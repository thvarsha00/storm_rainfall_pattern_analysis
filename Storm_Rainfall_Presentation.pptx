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 Rainfall (mm)</c:v>
                </c:pt>
              </c:strCache>
            </c:strRef>
          </c:tx>
          <c:spPr>
            <a:solidFill>
              <a:srgbClr val="065A82"/>
            </a:solidFill>
            <a:effectLst/>
          </c:spPr>
          <c:invertIfNegative val="0"/>
          <c:dLbls>
            <c:numFmt formatCode="#,##0" sourceLinked="0"/>
            <c:txPr>
              <a:bodyPr/>
              <a:lstStyle/>
              <a:p>
                <a:pPr>
                  <a:defRPr b="0" i="0" strike="noStrike" sz="1200" u="none">
                    <a:solidFill>
                      <a:srgbClr val="1E293B"/>
                    </a:solidFill>
                    <a:latin typeface="Arial"/>
                  </a:defRPr>
                </a:pPr>
              </a:p>
            </c:txPr>
            <c:showLegendKey val="0"/>
            <c:showVal val="0"/>
            <c:showCatName val="0"/>
            <c:showSerName val="0"/>
            <c:showPercent val="0"/>
            <c:showBubbleSize val="0"/>
            <c:showLeaderLines val="0"/>
          </c:dLbls>
          <c:cat>
            <c:multiLvlStrRef>
              <c:f>Sheet1!$A$2:$A$11</c:f>
              <c:multiLvlStrCache>
                <c:ptCount val="10"/>
                <c:lvl>
                  <c:pt idx="0">
                    <c:v>Cairns</c:v>
                  </c:pt>
                  <c:pt idx="1">
                    <c:v>Darwin</c:v>
                  </c:pt>
                  <c:pt idx="2">
                    <c:v>CoffsHarbour</c:v>
                  </c:pt>
                  <c:pt idx="3">
                    <c:v>GoldCoast</c:v>
                  </c:pt>
                  <c:pt idx="4">
                    <c:v>Sydney</c:v>
                  </c:pt>
                  <c:pt idx="5">
                    <c:v>Wollongong</c:v>
                  </c:pt>
                  <c:pt idx="6">
                    <c:v>Townsville</c:v>
                  </c:pt>
                  <c:pt idx="7">
                    <c:v>Brisbane</c:v>
                  </c:pt>
                  <c:pt idx="8">
                    <c:v>NorahHead</c:v>
                  </c:pt>
                  <c:pt idx="9">
                    <c:v>MountGinini</c:v>
                  </c:pt>
                </c:lvl>
              </c:multiLvlStrCache>
            </c:multiLvlStrRef>
          </c:cat>
          <c:val>
            <c:numRef>
              <c:f>Sheet1!$B$2:$B$11</c:f>
              <c:numCache>
                <c:formatCode>General</c:formatCode>
                <c:ptCount val="10"/>
                <c:pt idx="0">
                  <c:v>17157.2</c:v>
                </c:pt>
                <c:pt idx="1">
                  <c:v>16260.2</c:v>
                </c:pt>
                <c:pt idx="2">
                  <c:v>14946.6</c:v>
                </c:pt>
                <c:pt idx="3">
                  <c:v>11232.8</c:v>
                </c:pt>
                <c:pt idx="4">
                  <c:v>11094</c:v>
                </c:pt>
                <c:pt idx="5">
                  <c:v>10720</c:v>
                </c:pt>
                <c:pt idx="6">
                  <c:v>10571.8</c:v>
                </c:pt>
                <c:pt idx="7">
                  <c:v>9941</c:v>
                </c:pt>
                <c:pt idx="8">
                  <c:v>9921.4</c:v>
                </c:pt>
                <c:pt idx="9">
                  <c:v>9570.6</c:v>
                </c:pt>
              </c:numCache>
            </c:numRef>
          </c:val>
        </c:ser>
        <c:dLbls>
          <c:numFmt formatCode="#,##0" sourceLinked="0"/>
          <c:txPr>
            <a:bodyPr/>
            <a:lstStyle/>
            <a:p>
              <a:pPr>
                <a:defRPr b="0" i="0" strike="noStrike" sz="1200" u="none">
                  <a:solidFill>
                    <a:srgbClr val="1E293B"/>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Avg Daily Rainfall (mm)</c:v>
                </c:pt>
              </c:strCache>
            </c:strRef>
          </c:tx>
          <c:spPr>
            <a:solidFill>
              <a:srgbClr val="1C729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2.74</c:v>
                </c:pt>
                <c:pt idx="1">
                  <c:v>3.19</c:v>
                </c:pt>
                <c:pt idx="2">
                  <c:v>2.81</c:v>
                </c:pt>
                <c:pt idx="3">
                  <c:v>2.33</c:v>
                </c:pt>
                <c:pt idx="4">
                  <c:v>2</c:v>
                </c:pt>
                <c:pt idx="5">
                  <c:v>2.78</c:v>
                </c:pt>
                <c:pt idx="6">
                  <c:v>2.18</c:v>
                </c:pt>
                <c:pt idx="7">
                  <c:v>2.03</c:v>
                </c:pt>
                <c:pt idx="8">
                  <c:v>1.89</c:v>
                </c:pt>
                <c:pt idx="9">
                  <c:v>1.61</c:v>
                </c:pt>
                <c:pt idx="10">
                  <c:v>2.27</c:v>
                </c:pt>
                <c:pt idx="11">
                  <c:v>2.49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Avg Daily Rainfall (mm)</c:v>
                </c:pt>
              </c:strCache>
            </c:strRef>
          </c:tx>
          <c:spPr>
            <a:solidFill>
              <a:srgbClr val="065A82"/>
            </a:solidFill>
            <a:ln w="38100" cap="flat">
              <a:solidFill>
                <a:srgbClr val="065A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65A82"/>
              </a:solidFill>
              <a:ln w="9525" cap="flat">
                <a:solidFill>
                  <a:srgbClr val="065A82"/>
                </a:solidFill>
                <a:prstDash val="solid"/>
                <a:round/>
              </a:ln>
              <a:effectLst/>
            </c:spPr>
          </c:marker>
          <c:cat>
            <c:multiLvlStrRef>
              <c:f>Sheet1!$A$2:$A$9</c:f>
              <c:multiLvlStrCache>
                <c:ptCount val="8"/>
                <c:lvl>
                  <c:pt idx="0">
                    <c:v>2009</c:v>
                  </c:pt>
                  <c:pt idx="1">
                    <c:v>2010</c:v>
                  </c:pt>
                  <c:pt idx="2">
                    <c:v>2011</c:v>
                  </c:pt>
                  <c:pt idx="3">
                    <c:v>2012</c:v>
                  </c:pt>
                  <c:pt idx="4">
                    <c:v>2013</c:v>
                  </c:pt>
                  <c:pt idx="5">
                    <c:v>2014</c:v>
                  </c:pt>
                  <c:pt idx="6">
                    <c:v>2015</c:v>
                  </c:pt>
                  <c:pt idx="7">
                    <c:v>2016</c:v>
                  </c:pt>
                </c:lvl>
              </c:multiLvlStrCache>
            </c:multiLvlStrRef>
          </c:cat>
          <c:val>
            <c:numRef>
              <c:f>Sheet1!$B$2:$B$9</c:f>
              <c:numCache>
                <c:formatCode>General</c:formatCode>
                <c:ptCount val="8"/>
                <c:pt idx="0">
                  <c:v>2.17</c:v>
                </c:pt>
                <c:pt idx="1">
                  <c:v>2.71</c:v>
                </c:pt>
                <c:pt idx="2">
                  <c:v>2.83</c:v>
                </c:pt>
                <c:pt idx="3">
                  <c:v>2.42</c:v>
                </c:pt>
                <c:pt idx="4">
                  <c:v>2.27</c:v>
                </c:pt>
                <c:pt idx="5">
                  <c:v>1.97</c:v>
                </c:pt>
                <c:pt idx="6">
                  <c:v>2.16</c:v>
                </c:pt>
                <c:pt idx="7">
                  <c:v>2.38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Arial"/>
              </a:defRPr>
            </a:pPr>
            <a:r>
              <a:rPr sz="1300" b="0" i="0" u="none" strike="noStrike">
                <a:solidFill>
                  <a:srgbClr val="21295C"/>
                </a:solidFill>
                <a:latin typeface="Arial"/>
              </a:rPr>
              <a:t>Wind Gust (km/h)</a:t>
            </a:r>
          </a:p>
        </c:rich>
      </c:tx>
      <c:layout/>
      <c:overlay val="0"/>
    </c:title>
    <c:autoTitleDeleted val="0"/>
    <c:plotArea>
      <c:layout/>
      <c:lineChart>
        <c:varyColors val="0"/>
        <c:ser>
          <c:idx val="0"/>
          <c:order val="0"/>
          <c:tx>
            <c:strRef>
              <c:f>Sheet1!$B$1</c:f>
              <c:strCache>
                <c:ptCount val="1"/>
                <c:pt idx="0">
                  <c:v>Avg Wind Gust (km/h)</c:v>
                </c:pt>
              </c:strCache>
            </c:strRef>
          </c:tx>
          <c:spPr>
            <a:solidFill>
              <a:srgbClr val="065A82"/>
            </a:solidFill>
            <a:ln w="38100" cap="flat">
              <a:solidFill>
                <a:srgbClr val="065A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65A82"/>
              </a:solidFill>
              <a:ln w="9525" cap="flat">
                <a:solidFill>
                  <a:srgbClr val="065A82"/>
                </a:solidFill>
                <a:prstDash val="solid"/>
                <a:round/>
              </a:ln>
              <a:effectLst/>
            </c:spPr>
          </c:marker>
          <c:cat>
            <c:multiLvlStrRef>
              <c:f>Sheet1!$A$2:$A$4</c:f>
              <c:multiLvlStrCache>
                <c:ptCount val="3"/>
                <c:lvl>
                  <c:pt idx="0">
                    <c:v>Heavy
(≥25mm)</c:v>
                  </c:pt>
                  <c:pt idx="1">
                    <c:v>Very Heavy
(≥50mm)</c:v>
                  </c:pt>
                  <c:pt idx="2">
                    <c:v>Extreme
(≥100mm)</c:v>
                  </c:pt>
                </c:lvl>
              </c:multiLvlStrCache>
            </c:multiLvlStrRef>
          </c:cat>
          <c:val>
            <c:numRef>
              <c:f>Sheet1!$B$2:$B$4</c:f>
              <c:numCache>
                <c:formatCode>General</c:formatCode>
                <c:ptCount val="3"/>
                <c:pt idx="0">
                  <c:v>47</c:v>
                </c:pt>
                <c:pt idx="1">
                  <c:v>49.1</c:v>
                </c:pt>
                <c:pt idx="2">
                  <c:v>54.7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Arial"/>
              </a:defRPr>
            </a:pPr>
            <a:r>
              <a:rPr sz="1300" b="0" i="0" u="none" strike="noStrike">
                <a:solidFill>
                  <a:srgbClr val="21295C"/>
                </a:solidFill>
                <a:latin typeface="Arial"/>
              </a:rPr>
              <a:t>Humidity 9am (%)</a:t>
            </a:r>
          </a:p>
        </c:rich>
      </c:tx>
      <c:layout/>
      <c:overlay val="0"/>
    </c:title>
    <c:autoTitleDeleted val="0"/>
    <c:plotArea>
      <c:layout/>
      <c:lineChart>
        <c:varyColors val="0"/>
        <c:ser>
          <c:idx val="0"/>
          <c:order val="0"/>
          <c:tx>
            <c:strRef>
              <c:f>Sheet1!$B$1</c:f>
              <c:strCache>
                <c:ptCount val="1"/>
                <c:pt idx="0">
                  <c:v>Avg Humidity (%)</c:v>
                </c:pt>
              </c:strCache>
            </c:strRef>
          </c:tx>
          <c:spPr>
            <a:solidFill>
              <a:srgbClr val="1C7293"/>
            </a:solidFill>
            <a:ln w="3810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C7293"/>
              </a:solidFill>
              <a:ln w="9525" cap="flat">
                <a:solidFill>
                  <a:srgbClr val="1C7293"/>
                </a:solidFill>
                <a:prstDash val="solid"/>
                <a:round/>
              </a:ln>
              <a:effectLst/>
            </c:spPr>
          </c:marker>
          <c:cat>
            <c:multiLvlStrRef>
              <c:f>Sheet1!$A$2:$A$4</c:f>
              <c:multiLvlStrCache>
                <c:ptCount val="3"/>
                <c:lvl>
                  <c:pt idx="0">
                    <c:v>Heavy
(≥25mm)</c:v>
                  </c:pt>
                  <c:pt idx="1">
                    <c:v>Very Heavy
(≥50mm)</c:v>
                  </c:pt>
                  <c:pt idx="2">
                    <c:v>Extreme
(≥100mm)</c:v>
                  </c:pt>
                </c:lvl>
              </c:multiLvlStrCache>
            </c:multiLvlStrRef>
          </c:cat>
          <c:val>
            <c:numRef>
              <c:f>Sheet1!$B$2:$B$4</c:f>
              <c:numCache>
                <c:formatCode>General</c:formatCode>
                <c:ptCount val="3"/>
                <c:pt idx="0">
                  <c:v>86</c:v>
                </c:pt>
                <c:pt idx="1">
                  <c:v>88.4</c:v>
                </c:pt>
                <c:pt idx="2">
                  <c:v>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Arial"/>
              </a:defRPr>
            </a:pPr>
            <a:r>
              <a:rPr sz="1300" b="0" i="0" u="none" strike="noStrike">
                <a:solidFill>
                  <a:srgbClr val="21295C"/>
                </a:solidFill>
                <a:latin typeface="Arial"/>
              </a:rPr>
              <a:t>Pressure 9am (hPa)</a:t>
            </a:r>
          </a:p>
        </c:rich>
      </c:tx>
      <c:layout/>
      <c:overlay val="0"/>
    </c:title>
    <c:autoTitleDeleted val="0"/>
    <c:plotArea>
      <c:layout/>
      <c:lineChart>
        <c:varyColors val="0"/>
        <c:ser>
          <c:idx val="0"/>
          <c:order val="0"/>
          <c:tx>
            <c:strRef>
              <c:f>Sheet1!$B$1</c:f>
              <c:strCache>
                <c:ptCount val="1"/>
                <c:pt idx="0">
                  <c:v>Avg Pressure (hPa)</c:v>
                </c:pt>
              </c:strCache>
            </c:strRef>
          </c:tx>
          <c:spPr>
            <a:solidFill>
              <a:srgbClr val="21295C"/>
            </a:solidFill>
            <a:ln w="38100" cap="flat">
              <a:solidFill>
                <a:srgbClr val="21295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1295C"/>
              </a:solidFill>
              <a:ln w="9525" cap="flat">
                <a:solidFill>
                  <a:srgbClr val="21295C"/>
                </a:solidFill>
                <a:prstDash val="solid"/>
                <a:round/>
              </a:ln>
              <a:effectLst/>
            </c:spPr>
          </c:marker>
          <c:cat>
            <c:multiLvlStrRef>
              <c:f>Sheet1!$A$2:$A$4</c:f>
              <c:multiLvlStrCache>
                <c:ptCount val="3"/>
                <c:lvl>
                  <c:pt idx="0">
                    <c:v>Heavy
(≥25mm)</c:v>
                  </c:pt>
                  <c:pt idx="1">
                    <c:v>Very Heavy
(≥50mm)</c:v>
                  </c:pt>
                  <c:pt idx="2">
                    <c:v>Extreme
(≥100mm)</c:v>
                  </c:pt>
                </c:lvl>
              </c:multiLvlStrCache>
            </c:multiLvlStrRef>
          </c:cat>
          <c:val>
            <c:numRef>
              <c:f>Sheet1!$B$2:$B$4</c:f>
              <c:numCache>
                <c:formatCode>General</c:formatCode>
                <c:ptCount val="3"/>
                <c:pt idx="0">
                  <c:v>1012</c:v>
                </c:pt>
                <c:pt idx="1">
                  <c:v>1012</c:v>
                </c:pt>
                <c:pt idx="2">
                  <c:v>1010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014"/>
          <c:min val="100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Arial"/>
              </a:defRPr>
            </a:pPr>
            <a:r>
              <a:rPr sz="1300" b="0" i="0" u="none" strike="noStrike">
                <a:solidFill>
                  <a:srgbClr val="21295C"/>
                </a:solidFill>
                <a:latin typeface="Arial"/>
              </a:rPr>
              <a:t>Rain Frequency (% of days)</a:t>
            </a:r>
          </a:p>
        </c:rich>
      </c:tx>
      <c:layout/>
      <c:overlay val="0"/>
    </c:title>
    <c:autoTitleDeleted val="0"/>
    <c:plotArea>
      <c:layout/>
      <c:barChart>
        <c:barDir val="col"/>
        <c:grouping val="clustered"/>
        <c:varyColors val="0"/>
        <c:ser>
          <c:idx val="0"/>
          <c:order val="0"/>
          <c:tx>
            <c:strRef>
              <c:f>Sheet1!$B$1</c:f>
              <c:strCache>
                <c:ptCount val="1"/>
                <c:pt idx="0">
                  <c:v>Rain Frequency (%)</c:v>
                </c:pt>
              </c:strCache>
            </c:strRef>
          </c:tx>
          <c:spPr>
            <a:solidFill>
              <a:srgbClr val="1C729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Cairns</c:v>
                  </c:pt>
                  <c:pt idx="1">
                    <c:v>Darwin</c:v>
                  </c:pt>
                  <c:pt idx="2">
                    <c:v>CoffsHarbour</c:v>
                  </c:pt>
                  <c:pt idx="3">
                    <c:v>GoldCoast</c:v>
                  </c:pt>
                  <c:pt idx="4">
                    <c:v>Sydney</c:v>
                  </c:pt>
                  <c:pt idx="5">
                    <c:v>Wollongong</c:v>
                  </c:pt>
                  <c:pt idx="6">
                    <c:v>Townsville</c:v>
                  </c:pt>
                  <c:pt idx="7">
                    <c:v>Brisbane</c:v>
                  </c:pt>
                  <c:pt idx="8">
                    <c:v>NorahHead</c:v>
                  </c:pt>
                  <c:pt idx="9">
                    <c:v>MountGinini</c:v>
                  </c:pt>
                </c:lvl>
              </c:multiLvlStrCache>
            </c:multiLvlStrRef>
          </c:cat>
          <c:val>
            <c:numRef>
              <c:f>Sheet1!$B$2:$B$11</c:f>
              <c:numCache>
                <c:formatCode>General</c:formatCode>
                <c:ptCount val="10"/>
                <c:pt idx="0">
                  <c:v>31.2</c:v>
                </c:pt>
                <c:pt idx="1">
                  <c:v>26.7</c:v>
                </c:pt>
                <c:pt idx="2">
                  <c:v>28.9</c:v>
                </c:pt>
                <c:pt idx="3">
                  <c:v>25.5</c:v>
                </c:pt>
                <c:pt idx="4">
                  <c:v>25.9</c:v>
                </c:pt>
                <c:pt idx="5">
                  <c:v>23.5</c:v>
                </c:pt>
                <c:pt idx="6">
                  <c:v>17.1</c:v>
                </c:pt>
                <c:pt idx="7">
                  <c:v>22.2</c:v>
                </c:pt>
                <c:pt idx="8">
                  <c:v>26.9</c:v>
                </c:pt>
                <c:pt idx="9">
                  <c:v>26.9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1295C"/>
                </a:solidFill>
                <a:latin typeface="Arial"/>
              </a:defRPr>
            </a:pPr>
            <a:r>
              <a:rPr sz="1300" b="0" i="0" u="none" strike="noStrike">
                <a:solidFill>
                  <a:srgbClr val="21295C"/>
                </a:solidFill>
                <a:latin typeface="Arial"/>
              </a:rPr>
              <a:t>Intensity (mm per rainy day)</a:t>
            </a:r>
          </a:p>
        </c:rich>
      </c:tx>
      <c:layout/>
      <c:overlay val="0"/>
    </c:title>
    <c:autoTitleDeleted val="0"/>
    <c:plotArea>
      <c:layout/>
      <c:barChart>
        <c:barDir val="col"/>
        <c:grouping val="clustered"/>
        <c:varyColors val="0"/>
        <c:ser>
          <c:idx val="0"/>
          <c:order val="0"/>
          <c:tx>
            <c:strRef>
              <c:f>Sheet1!$B$1</c:f>
              <c:strCache>
                <c:ptCount val="1"/>
                <c:pt idx="0">
                  <c:v>Intensity (mm/rainy day)</c:v>
                </c:pt>
              </c:strCache>
            </c:strRef>
          </c:tx>
          <c:spPr>
            <a:solidFill>
              <a:srgbClr val="065A8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Cairns</c:v>
                  </c:pt>
                  <c:pt idx="1">
                    <c:v>Darwin</c:v>
                  </c:pt>
                  <c:pt idx="2">
                    <c:v>CoffsHarbour</c:v>
                  </c:pt>
                  <c:pt idx="3">
                    <c:v>GoldCoast</c:v>
                  </c:pt>
                  <c:pt idx="4">
                    <c:v>Sydney</c:v>
                  </c:pt>
                  <c:pt idx="5">
                    <c:v>Wollongong</c:v>
                  </c:pt>
                  <c:pt idx="6">
                    <c:v>Townsville</c:v>
                  </c:pt>
                  <c:pt idx="7">
                    <c:v>Brisbane</c:v>
                  </c:pt>
                  <c:pt idx="8">
                    <c:v>NorahHead</c:v>
                  </c:pt>
                  <c:pt idx="9">
                    <c:v>MountGinini</c:v>
                  </c:pt>
                </c:lvl>
              </c:multiLvlStrCache>
            </c:multiLvlStrRef>
          </c:cat>
          <c:val>
            <c:numRef>
              <c:f>Sheet1!$B$2:$B$11</c:f>
              <c:numCache>
                <c:formatCode>General</c:formatCode>
                <c:ptCount val="10"/>
                <c:pt idx="0">
                  <c:v>18.06</c:v>
                </c:pt>
                <c:pt idx="1">
                  <c:v>19.08</c:v>
                </c:pt>
                <c:pt idx="2">
                  <c:v>17.2</c:v>
                </c:pt>
                <c:pt idx="3">
                  <c:v>14.49</c:v>
                </c:pt>
                <c:pt idx="4">
                  <c:v>12.81</c:v>
                </c:pt>
                <c:pt idx="5">
                  <c:v>15.04</c:v>
                </c:pt>
                <c:pt idx="6">
                  <c:v>20.33</c:v>
                </c:pt>
                <c:pt idx="7">
                  <c:v>14.02</c:v>
                </c:pt>
                <c:pt idx="8">
                  <c:v>12.28</c:v>
                </c:pt>
                <c:pt idx="9">
                  <c:v>11.69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|z-value|</c:v>
                </c:pt>
              </c:strCache>
            </c:strRef>
          </c:tx>
          <c:spPr>
            <a:solidFill>
              <a:srgbClr val="065A8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humidity_3pm</c:v>
                  </c:pt>
                  <c:pt idx="1">
                    <c:v>wind_gust_spd</c:v>
                  </c:pt>
                  <c:pt idx="2">
                    <c:v>pressure_3pm</c:v>
                  </c:pt>
                  <c:pt idx="3">
                    <c:v>pressure_9am</c:v>
                  </c:pt>
                  <c:pt idx="4">
                    <c:v>rain_today</c:v>
                  </c:pt>
                  <c:pt idx="5">
                    <c:v>temp_3pm</c:v>
                  </c:pt>
                  <c:pt idx="6">
                    <c:v>rainfall_mm</c:v>
                  </c:pt>
                  <c:pt idx="7">
                    <c:v>humidity_9am</c:v>
                  </c:pt>
                </c:lvl>
              </c:multiLvlStrCache>
            </c:multiLvlStrRef>
          </c:cat>
          <c:val>
            <c:numRef>
              <c:f>Sheet1!$B$2:$B$9</c:f>
              <c:numCache>
                <c:formatCode>General</c:formatCode>
                <c:ptCount val="8"/>
                <c:pt idx="0">
                  <c:v>101.96</c:v>
                </c:pt>
                <c:pt idx="1">
                  <c:v>57.39</c:v>
                </c:pt>
                <c:pt idx="2">
                  <c:v>46.9</c:v>
                </c:pt>
                <c:pt idx="3">
                  <c:v>33.17</c:v>
                </c:pt>
                <c:pt idx="4">
                  <c:v>24.21</c:v>
                </c:pt>
                <c:pt idx="5">
                  <c:v>13.45</c:v>
                </c:pt>
                <c:pt idx="6">
                  <c:v>7.41</c:v>
                </c:pt>
                <c:pt idx="7">
                  <c:v>7.21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Varsha. For my Week 3 project, I worked with the weatherAUS dataset — about ten years of daily weather observations from 49 Australian weather stations, roughly 145,000 rows in total. I picked Project 10: Meteorology — Storm and Rainfall Pattern Analysis, because I wanted to answer something real: where does Australia get its worst rainfall, when does it happen, and can we predict it? I used the full stack from the brief — SQL for cleaning and storage, R for statistical analysis and modeling, and Excel for the final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my Week 3 project, I worked with the weatherAUS dataset — about ten years of daily weather observations from 49 Australian weather stations, roughly 145,000 rows in total. I picked Project 10: Meteorology — Storm and Rainfall Pattern Analysis. I used the full stack from the brief — SQL for cleaning and storage, R for statistical analysis and modeling, and Excel for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could analyze anything, I had to deal with a data quality issue. When I first checked for missing values using a standard COUNT query, it looked almost perfectly clean — but that didn't match the dataset's documentation, which claimed Sunshine and Evaporation should be 40 to 48 percent missing. I dug in and found the real problem: during import, missing values — just the text NA in the original file — got converted into the literal value NaN instead of a proper SQL NULL. SQL's COUNT only skips true NULLs, so it silently counted those rows as present. Once I tested for it directly, the numbers lined up exactly with the documentation. The fix was a cleaned SQL view that converts every NaN back into a real NULL, and from that point on every query in this project was built on that cleaned view, never the raw table. I think this is honestly the part I'm most proud of, because it would have silently corrupted every result downstream if I hadn't caught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data was clean, the first question was: which locations actually get the most rain? The answer is clearly the tropical north and the east coast — Cairns and Darwin top the list, averaging over 5 millimeters a day across the full ten years, followed by Coffs Harbour, Gold Coast, Sydney, Wollongong, Townsville, and Brisbane. What's interesting is what's not on this list — no southern or inland station makes the top ten. Australia's heaviest rainfall is structurally a tropical and coastal phenomenon, tied to monsoon troughs and coastal low-pressure systems, not something evenly spread across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looked at seasonality, pooling all years and all stations together by month. February is the wettest month nationally, at just over 3 millimeters a day on average — that lines up with the peak of the northern Australian monsoon and cyclone season. October is the driest, sitting in the gap between the southern winter rains ending and the northern wet season not yet starting. There's also a smaller second peak in June — that's a different mechanism, southern frontal winter rain, more frequent but gentler than tropical downpours. June actually has more rainy days than February nationally, even though February's rain is more intense per day. That contrast — frequency versus intensity — becomes a theme I dig into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tested whether rainfall is trending up or down over the decade. Visually, the chart bounces around — it climbs to a peak in 2011, drops to a low in 2014, then partially recovers. I ran a linear regression to test this properly, and the result was a p-value of 0.32 — not statistically significant. There's no real long-term trend here. What's actually driving the year-to-year swings is short climate cycles — 2011, the wettest year, lines up exactly with the well-documented La Niña flooding event in eastern Australia. 2014, the driest year, lines up with more neutral conditions. So the honest conclusion is rainfall here was driven by El Niño and La Niña cycles, not a steady climate trend, at least not one detectable in this ten-year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a storm pattern project — finding the actual extreme days. I used two definitions and cross-checked them. First, a data-driven approach — the top 1 percent of rainfall days, which came out to 37.4 millimeters. Second, the Bureau of Meteorology's own standard tiers: heavy rain at 25 millimeters, very heavy at 50, and extreme or torrential at 100 millimeters or more. The two approaches lined up well — my top 1 percent cutoff sat right between BOM's heavy and very-heavy tiers, which gave me confidence the BOM scale was the more interpretable one to report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BOM scale, 151 days nationally over the decade reached the extreme tier — 100 millimeters or more. When I broke those down by location and month, the pattern was unmistakable: Darwin in February, Cairns in January through March, Coffs Harbour and Townsville in the same window. Every single one of the top entries is a tropical or sub-tropical station, every one falls in the January-to-April monsoon and cyclone season. No southern station appears anywhere in that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geography and timing pointing at monsoon and cyclone systems, but I wanted to check if the actual atmospheric conditions backed that up. So I grouped all the heavy-rain-or-worse days by severity tier and looked at average wind speed, pressure, and humidity in each one. The pattern is really clean: as severity increases from heavy to very heavy to extreme, wind gusts climb steadily from 47 to 55 kilometers an hour, humidity climbs from 86 to 90 percent, and pressure drops from 1012 down to 1010 hectopascals. Every variable moves in exactly the direction you'd expect for a monsoon trough or tropical low-pressure system — and it's not just present-or-absent, it scales with how severe the storm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angle I wanted to dig into: rainfall amount can come from two very different patterns — raining often, or raining hard when it does rain. So I split those apart for the top ten wettest locations. Townsville stood out — it has the lowest rain frequency of the top ten, only 17 percent of days, but the highest intensity per rainy day, over 20 millimeters. That's a textbook tropical pattern — infrequent but very intense rain events, almost certainly cyclone-driven. Cairns, on the other hand, leads on both frequency and intensity — it just rains a lot, and hard, more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wanted to go a step further than description and actually try to predict rainfall. I built a logistic regression model in R, predicting whether it would rain tomorrow using today's humidity, pressure, wind, temperature, and rainfall. Using about 120,000 complete observations, the model reached 84.8 percent overall accuracy. But I want to be upfront about what that number actually means — accuracy alone can be misleading on an imbalanced dataset like this, where most days don't have rain. Breaking it down: the model is excellent at confirming dry days, 95 percent specificity, but it only catches about 49 percent of the days that actually turned out rainy. So it's a strong screening tool, not a definitive forecast — it's conservative about calling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predictor, by a wide margin, was 3pm humidity — its statistical significance was more than double the next strongest variable, wind gust speed. Interestingly, pressure showed an important nuance: it's not the pressure level that matters, it's the trend through the day — pressure dropping from morning to afternoon was the real rain signal, which matches real meteorological theory about approaching low-pressure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bring it all together — three independent angles in this project all point to the same conclusion. Geography says tropical and coastal stations get the worst rain. Timing says it's concentrated in the January-to-March monsoon season. And the atmospheric data and the predictive model both confirm the physical mechanism — falling pressure and rising humidity drive it, and that signal is strong enough to predict rain with real, measurable accuracy. What I'd do next, given more time, is extend the model with wind direction and lagged variables, and dig into a couple of outliers I found during data cleaning that I didn't have time to fully chase down. That's my project —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503920" y="-2286000"/>
            <a:ext cx="6400800" cy="6400800"/>
          </a:xfrm>
          <a:prstGeom prst="ellipse">
            <a:avLst/>
          </a:prstGeom>
          <a:solidFill>
            <a:srgbClr val="065A82">
              <a:alpha val="40000"/>
            </a:srgbClr>
          </a:solidFill>
          <a:ln/>
        </p:spPr>
      </p:sp>
      <p:sp>
        <p:nvSpPr>
          <p:cNvPr id="3" name="Shape 1"/>
          <p:cNvSpPr/>
          <p:nvPr/>
        </p:nvSpPr>
        <p:spPr>
          <a:xfrm>
            <a:off x="9875520" y="-914400"/>
            <a:ext cx="4114800" cy="4114800"/>
          </a:xfrm>
          <a:prstGeom prst="ellipse">
            <a:avLst/>
          </a:prstGeom>
          <a:solidFill>
            <a:srgbClr val="1C7293">
              <a:alpha val="45000"/>
            </a:srgbClr>
          </a:solidFill>
          <a:ln/>
        </p:spPr>
      </p:sp>
      <p:sp>
        <p:nvSpPr>
          <p:cNvPr id="4" name="Shape 2"/>
          <p:cNvSpPr/>
          <p:nvPr/>
        </p:nvSpPr>
        <p:spPr>
          <a:xfrm>
            <a:off x="822960" y="914400"/>
            <a:ext cx="822960" cy="822960"/>
          </a:xfrm>
          <a:prstGeom prst="ellipse">
            <a:avLst/>
          </a:prstGeom>
          <a:solidFill>
            <a:srgbClr val="1C7293"/>
          </a:solidFill>
          <a:ln/>
        </p:spPr>
      </p:sp>
      <p:pic>
        <p:nvPicPr>
          <p:cNvPr id="5" name="Image 0" descr="/home/claude/pptx/icons/storm.png">    </p:cNvPr>
          <p:cNvPicPr>
            <a:picLocks noChangeAspect="1"/>
          </p:cNvPicPr>
          <p:nvPr/>
        </p:nvPicPr>
        <p:blipFill>
          <a:blip r:embed="rId1"/>
          <a:stretch>
            <a:fillRect/>
          </a:stretch>
        </p:blipFill>
        <p:spPr>
          <a:xfrm>
            <a:off x="1036930" y="1128370"/>
            <a:ext cx="395021" cy="395021"/>
          </a:xfrm>
          <a:prstGeom prst="rect">
            <a:avLst/>
          </a:prstGeom>
        </p:spPr>
      </p:pic>
      <p:sp>
        <p:nvSpPr>
          <p:cNvPr id="6" name="Text 3"/>
          <p:cNvSpPr/>
          <p:nvPr/>
        </p:nvSpPr>
        <p:spPr>
          <a:xfrm>
            <a:off x="822960" y="2103120"/>
            <a:ext cx="8229600" cy="365760"/>
          </a:xfrm>
          <a:prstGeom prst="rect">
            <a:avLst/>
          </a:prstGeom>
          <a:noFill/>
          <a:ln/>
        </p:spPr>
        <p:txBody>
          <a:bodyPr wrap="square" lIns="0" tIns="0" rIns="0" bIns="0" rtlCol="0" anchor="ctr"/>
          <a:lstStyle/>
          <a:p>
            <a:pPr indent="0" marL="0">
              <a:buNone/>
            </a:pPr>
            <a:r>
              <a:rPr lang="en-US" sz="1400" b="1" spc="200" kern="0" dirty="0">
                <a:solidFill>
                  <a:srgbClr val="8FC1D9"/>
                </a:solidFill>
                <a:latin typeface="Calibri" pitchFamily="34" charset="0"/>
                <a:ea typeface="Calibri" pitchFamily="34" charset="-122"/>
                <a:cs typeface="Calibri" pitchFamily="34" charset="-120"/>
              </a:rPr>
              <a:t>DATA ANALYTICS WEEK 3  •  SQL  •  R  •  EXCEL</a:t>
            </a:r>
            <a:endParaRPr lang="en-US" sz="1400" dirty="0"/>
          </a:p>
        </p:txBody>
      </p:sp>
      <p:sp>
        <p:nvSpPr>
          <p:cNvPr id="7" name="Text 4"/>
          <p:cNvSpPr/>
          <p:nvPr/>
        </p:nvSpPr>
        <p:spPr>
          <a:xfrm>
            <a:off x="777240" y="2468880"/>
            <a:ext cx="10058400" cy="14630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Storm &amp; Rainfall Pattern Analysis</a:t>
            </a:r>
            <a:endParaRPr lang="en-US" sz="4400" dirty="0"/>
          </a:p>
        </p:txBody>
      </p:sp>
      <p:sp>
        <p:nvSpPr>
          <p:cNvPr id="8" name="Text 5"/>
          <p:cNvSpPr/>
          <p:nvPr/>
        </p:nvSpPr>
        <p:spPr>
          <a:xfrm>
            <a:off x="822960" y="3794760"/>
            <a:ext cx="8686800" cy="73152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Ten years of Australian weather data, decoded: where the storms hit, when they peak, and whether we can predict them.</a:t>
            </a:r>
            <a:endParaRPr lang="en-US" sz="1600" dirty="0"/>
          </a:p>
        </p:txBody>
      </p:sp>
      <p:sp>
        <p:nvSpPr>
          <p:cNvPr id="9" name="Text 6"/>
          <p:cNvSpPr/>
          <p:nvPr/>
        </p:nvSpPr>
        <p:spPr>
          <a:xfrm>
            <a:off x="822960" y="5989320"/>
            <a:ext cx="5486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Presented by Varsha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DATASET</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We're Working With</a:t>
            </a:r>
            <a:endParaRPr lang="en-US" sz="3000" dirty="0"/>
          </a:p>
        </p:txBody>
      </p:sp>
      <p:sp>
        <p:nvSpPr>
          <p:cNvPr id="4" name="Shape 2"/>
          <p:cNvSpPr/>
          <p:nvPr/>
        </p:nvSpPr>
        <p:spPr>
          <a:xfrm>
            <a:off x="548640" y="1737360"/>
            <a:ext cx="2514600" cy="2103120"/>
          </a:xfrm>
          <a:prstGeom prst="roundRect">
            <a:avLst>
              <a:gd name="adj" fmla="val 3478"/>
            </a:avLst>
          </a:prstGeom>
          <a:solidFill>
            <a:srgbClr val="EAF4F8"/>
          </a:solidFill>
          <a:ln/>
          <a:effectLst>
            <a:outerShdw sx="100000" sy="100000" kx="0" ky="0" algn="bl" rotWithShape="0" blurRad="101600" dist="38100" dir="2700000">
              <a:srgbClr val="000000">
                <a:alpha val="12000"/>
              </a:srgbClr>
            </a:outerShdw>
          </a:effectLst>
        </p:spPr>
      </p:sp>
      <p:sp>
        <p:nvSpPr>
          <p:cNvPr id="5" name="Shape 3"/>
          <p:cNvSpPr/>
          <p:nvPr/>
        </p:nvSpPr>
        <p:spPr>
          <a:xfrm>
            <a:off x="1485900" y="2011680"/>
            <a:ext cx="640080" cy="640080"/>
          </a:xfrm>
          <a:prstGeom prst="ellipse">
            <a:avLst/>
          </a:prstGeom>
          <a:solidFill>
            <a:srgbClr val="065A82"/>
          </a:solidFill>
          <a:ln/>
        </p:spPr>
      </p:sp>
      <p:pic>
        <p:nvPicPr>
          <p:cNvPr id="6" name="Image 0" descr="/home/claude/pptx/icons/data.png">    </p:cNvPr>
          <p:cNvPicPr>
            <a:picLocks noChangeAspect="1"/>
          </p:cNvPicPr>
          <p:nvPr/>
        </p:nvPicPr>
        <p:blipFill>
          <a:blip r:embed="rId1"/>
          <a:stretch>
            <a:fillRect/>
          </a:stretch>
        </p:blipFill>
        <p:spPr>
          <a:xfrm>
            <a:off x="1652321" y="2178101"/>
            <a:ext cx="307238" cy="307238"/>
          </a:xfrm>
          <a:prstGeom prst="rect">
            <a:avLst/>
          </a:prstGeom>
        </p:spPr>
      </p:pic>
      <p:sp>
        <p:nvSpPr>
          <p:cNvPr id="7" name="Text 4"/>
          <p:cNvSpPr/>
          <p:nvPr/>
        </p:nvSpPr>
        <p:spPr>
          <a:xfrm>
            <a:off x="548640" y="2788920"/>
            <a:ext cx="2514600" cy="502920"/>
          </a:xfrm>
          <a:prstGeom prst="rect">
            <a:avLst/>
          </a:prstGeom>
          <a:noFill/>
          <a:ln/>
        </p:spPr>
        <p:txBody>
          <a:bodyPr wrap="square" lIns="0" tIns="0" rIns="0" bIns="0" rtlCol="0" anchor="ctr"/>
          <a:lstStyle/>
          <a:p>
            <a:pPr algn="ctr" indent="0" marL="0">
              <a:buNone/>
            </a:pPr>
            <a:r>
              <a:rPr lang="en-US" sz="2600" b="1" dirty="0">
                <a:solidFill>
                  <a:srgbClr val="21295C"/>
                </a:solidFill>
                <a:latin typeface="Cambria" pitchFamily="34" charset="0"/>
                <a:ea typeface="Cambria" pitchFamily="34" charset="-122"/>
                <a:cs typeface="Cambria" pitchFamily="34" charset="-120"/>
              </a:rPr>
              <a:t>145,460</a:t>
            </a:r>
            <a:endParaRPr lang="en-US" sz="2600" dirty="0"/>
          </a:p>
        </p:txBody>
      </p:sp>
      <p:sp>
        <p:nvSpPr>
          <p:cNvPr id="8" name="Text 5"/>
          <p:cNvSpPr/>
          <p:nvPr/>
        </p:nvSpPr>
        <p:spPr>
          <a:xfrm>
            <a:off x="640080" y="3291840"/>
            <a:ext cx="2331720" cy="457200"/>
          </a:xfrm>
          <a:prstGeom prst="rect">
            <a:avLst/>
          </a:prstGeom>
          <a:noFill/>
          <a:ln/>
        </p:spPr>
        <p:txBody>
          <a:bodyPr wrap="square" lIns="0" tIns="0" rIns="0" bIns="0" rtlCol="0" anchor="ctr"/>
          <a:lstStyle/>
          <a:p>
            <a:pPr algn="ctr" indent="0" marL="0">
              <a:buNone/>
            </a:pPr>
            <a:r>
              <a:rPr lang="en-US" sz="1250" dirty="0">
                <a:solidFill>
                  <a:srgbClr val="475569"/>
                </a:solidFill>
                <a:latin typeface="Calibri" pitchFamily="34" charset="0"/>
                <a:ea typeface="Calibri" pitchFamily="34" charset="-122"/>
                <a:cs typeface="Calibri" pitchFamily="34" charset="-120"/>
              </a:rPr>
              <a:t>Daily observations</a:t>
            </a:r>
            <a:endParaRPr lang="en-US" sz="1250" dirty="0"/>
          </a:p>
        </p:txBody>
      </p:sp>
      <p:sp>
        <p:nvSpPr>
          <p:cNvPr id="9" name="Shape 6"/>
          <p:cNvSpPr/>
          <p:nvPr/>
        </p:nvSpPr>
        <p:spPr>
          <a:xfrm>
            <a:off x="3383280" y="1737360"/>
            <a:ext cx="2514600" cy="2103120"/>
          </a:xfrm>
          <a:prstGeom prst="roundRect">
            <a:avLst>
              <a:gd name="adj" fmla="val 3478"/>
            </a:avLst>
          </a:prstGeom>
          <a:solidFill>
            <a:srgbClr val="EAF4F8"/>
          </a:solidFill>
          <a:ln/>
          <a:effectLst>
            <a:outerShdw sx="100000" sy="100000" kx="0" ky="0" algn="bl" rotWithShape="0" blurRad="101600" dist="38100" dir="2700000">
              <a:srgbClr val="000000">
                <a:alpha val="12000"/>
              </a:srgbClr>
            </a:outerShdw>
          </a:effectLst>
        </p:spPr>
      </p:sp>
      <p:sp>
        <p:nvSpPr>
          <p:cNvPr id="10" name="Shape 7"/>
          <p:cNvSpPr/>
          <p:nvPr/>
        </p:nvSpPr>
        <p:spPr>
          <a:xfrm>
            <a:off x="4320540" y="2011680"/>
            <a:ext cx="640080" cy="640080"/>
          </a:xfrm>
          <a:prstGeom prst="ellipse">
            <a:avLst/>
          </a:prstGeom>
          <a:solidFill>
            <a:srgbClr val="065A82"/>
          </a:solidFill>
          <a:ln/>
        </p:spPr>
      </p:sp>
      <p:pic>
        <p:nvPicPr>
          <p:cNvPr id="11" name="Image 1" descr="/home/claude/pptx/icons/location.png">    </p:cNvPr>
          <p:cNvPicPr>
            <a:picLocks noChangeAspect="1"/>
          </p:cNvPicPr>
          <p:nvPr/>
        </p:nvPicPr>
        <p:blipFill>
          <a:blip r:embed="rId2"/>
          <a:stretch>
            <a:fillRect/>
          </a:stretch>
        </p:blipFill>
        <p:spPr>
          <a:xfrm>
            <a:off x="4486961" y="2178101"/>
            <a:ext cx="307238" cy="307238"/>
          </a:xfrm>
          <a:prstGeom prst="rect">
            <a:avLst/>
          </a:prstGeom>
        </p:spPr>
      </p:pic>
      <p:sp>
        <p:nvSpPr>
          <p:cNvPr id="12" name="Text 8"/>
          <p:cNvSpPr/>
          <p:nvPr/>
        </p:nvSpPr>
        <p:spPr>
          <a:xfrm>
            <a:off x="3383280" y="2788920"/>
            <a:ext cx="2514600" cy="502920"/>
          </a:xfrm>
          <a:prstGeom prst="rect">
            <a:avLst/>
          </a:prstGeom>
          <a:noFill/>
          <a:ln/>
        </p:spPr>
        <p:txBody>
          <a:bodyPr wrap="square" lIns="0" tIns="0" rIns="0" bIns="0" rtlCol="0" anchor="ctr"/>
          <a:lstStyle/>
          <a:p>
            <a:pPr algn="ctr" indent="0" marL="0">
              <a:buNone/>
            </a:pPr>
            <a:r>
              <a:rPr lang="en-US" sz="2600" b="1" dirty="0">
                <a:solidFill>
                  <a:srgbClr val="21295C"/>
                </a:solidFill>
                <a:latin typeface="Cambria" pitchFamily="34" charset="0"/>
                <a:ea typeface="Cambria" pitchFamily="34" charset="-122"/>
                <a:cs typeface="Cambria" pitchFamily="34" charset="-120"/>
              </a:rPr>
              <a:t>49</a:t>
            </a:r>
            <a:endParaRPr lang="en-US" sz="2600" dirty="0"/>
          </a:p>
        </p:txBody>
      </p:sp>
      <p:sp>
        <p:nvSpPr>
          <p:cNvPr id="13" name="Text 9"/>
          <p:cNvSpPr/>
          <p:nvPr/>
        </p:nvSpPr>
        <p:spPr>
          <a:xfrm>
            <a:off x="3474720" y="3291840"/>
            <a:ext cx="2331720" cy="457200"/>
          </a:xfrm>
          <a:prstGeom prst="rect">
            <a:avLst/>
          </a:prstGeom>
          <a:noFill/>
          <a:ln/>
        </p:spPr>
        <p:txBody>
          <a:bodyPr wrap="square" lIns="0" tIns="0" rIns="0" bIns="0" rtlCol="0" anchor="ctr"/>
          <a:lstStyle/>
          <a:p>
            <a:pPr algn="ctr" indent="0" marL="0">
              <a:buNone/>
            </a:pPr>
            <a:r>
              <a:rPr lang="en-US" sz="1250" dirty="0">
                <a:solidFill>
                  <a:srgbClr val="475569"/>
                </a:solidFill>
                <a:latin typeface="Calibri" pitchFamily="34" charset="0"/>
                <a:ea typeface="Calibri" pitchFamily="34" charset="-122"/>
                <a:cs typeface="Calibri" pitchFamily="34" charset="-120"/>
              </a:rPr>
              <a:t>Weather stations</a:t>
            </a:r>
            <a:endParaRPr lang="en-US" sz="1250" dirty="0"/>
          </a:p>
        </p:txBody>
      </p:sp>
      <p:sp>
        <p:nvSpPr>
          <p:cNvPr id="14" name="Shape 10"/>
          <p:cNvSpPr/>
          <p:nvPr/>
        </p:nvSpPr>
        <p:spPr>
          <a:xfrm>
            <a:off x="6217920" y="1737360"/>
            <a:ext cx="2514600" cy="2103120"/>
          </a:xfrm>
          <a:prstGeom prst="roundRect">
            <a:avLst>
              <a:gd name="adj" fmla="val 3478"/>
            </a:avLst>
          </a:prstGeom>
          <a:solidFill>
            <a:srgbClr val="EAF4F8"/>
          </a:solidFill>
          <a:ln/>
          <a:effectLst>
            <a:outerShdw sx="100000" sy="100000" kx="0" ky="0" algn="bl" rotWithShape="0" blurRad="101600" dist="38100" dir="2700000">
              <a:srgbClr val="000000">
                <a:alpha val="12000"/>
              </a:srgbClr>
            </a:outerShdw>
          </a:effectLst>
        </p:spPr>
      </p:sp>
      <p:sp>
        <p:nvSpPr>
          <p:cNvPr id="15" name="Shape 11"/>
          <p:cNvSpPr/>
          <p:nvPr/>
        </p:nvSpPr>
        <p:spPr>
          <a:xfrm>
            <a:off x="7155180" y="2011680"/>
            <a:ext cx="640080" cy="640080"/>
          </a:xfrm>
          <a:prstGeom prst="ellipse">
            <a:avLst/>
          </a:prstGeom>
          <a:solidFill>
            <a:srgbClr val="065A82"/>
          </a:solidFill>
          <a:ln/>
        </p:spPr>
      </p:sp>
      <p:pic>
        <p:nvPicPr>
          <p:cNvPr id="16" name="Image 2" descr="/home/claude/pptx/icons/calendar.png">    </p:cNvPr>
          <p:cNvPicPr>
            <a:picLocks noChangeAspect="1"/>
          </p:cNvPicPr>
          <p:nvPr/>
        </p:nvPicPr>
        <p:blipFill>
          <a:blip r:embed="rId3"/>
          <a:stretch>
            <a:fillRect/>
          </a:stretch>
        </p:blipFill>
        <p:spPr>
          <a:xfrm>
            <a:off x="7321601" y="2178101"/>
            <a:ext cx="307238" cy="307238"/>
          </a:xfrm>
          <a:prstGeom prst="rect">
            <a:avLst/>
          </a:prstGeom>
        </p:spPr>
      </p:pic>
      <p:sp>
        <p:nvSpPr>
          <p:cNvPr id="17" name="Text 12"/>
          <p:cNvSpPr/>
          <p:nvPr/>
        </p:nvSpPr>
        <p:spPr>
          <a:xfrm>
            <a:off x="6217920" y="2788920"/>
            <a:ext cx="2514600" cy="502920"/>
          </a:xfrm>
          <a:prstGeom prst="rect">
            <a:avLst/>
          </a:prstGeom>
          <a:noFill/>
          <a:ln/>
        </p:spPr>
        <p:txBody>
          <a:bodyPr wrap="square" lIns="0" tIns="0" rIns="0" bIns="0" rtlCol="0" anchor="ctr"/>
          <a:lstStyle/>
          <a:p>
            <a:pPr algn="ctr" indent="0" marL="0">
              <a:buNone/>
            </a:pPr>
            <a:r>
              <a:rPr lang="en-US" sz="2600" b="1" dirty="0">
                <a:solidFill>
                  <a:srgbClr val="21295C"/>
                </a:solidFill>
                <a:latin typeface="Cambria" pitchFamily="34" charset="0"/>
                <a:ea typeface="Cambria" pitchFamily="34" charset="-122"/>
                <a:cs typeface="Cambria" pitchFamily="34" charset="-120"/>
              </a:rPr>
              <a:t>9.7 yrs</a:t>
            </a:r>
            <a:endParaRPr lang="en-US" sz="2600" dirty="0"/>
          </a:p>
        </p:txBody>
      </p:sp>
      <p:sp>
        <p:nvSpPr>
          <p:cNvPr id="18" name="Text 13"/>
          <p:cNvSpPr/>
          <p:nvPr/>
        </p:nvSpPr>
        <p:spPr>
          <a:xfrm>
            <a:off x="6309360" y="3291840"/>
            <a:ext cx="2331720" cy="457200"/>
          </a:xfrm>
          <a:prstGeom prst="rect">
            <a:avLst/>
          </a:prstGeom>
          <a:noFill/>
          <a:ln/>
        </p:spPr>
        <p:txBody>
          <a:bodyPr wrap="square" lIns="0" tIns="0" rIns="0" bIns="0" rtlCol="0" anchor="ctr"/>
          <a:lstStyle/>
          <a:p>
            <a:pPr algn="ctr" indent="0" marL="0">
              <a:buNone/>
            </a:pPr>
            <a:r>
              <a:rPr lang="en-US" sz="1250" dirty="0">
                <a:solidFill>
                  <a:srgbClr val="475569"/>
                </a:solidFill>
                <a:latin typeface="Calibri" pitchFamily="34" charset="0"/>
                <a:ea typeface="Calibri" pitchFamily="34" charset="-122"/>
                <a:cs typeface="Calibri" pitchFamily="34" charset="-120"/>
              </a:rPr>
              <a:t>Nov 2007 – Jun 2017</a:t>
            </a:r>
            <a:endParaRPr lang="en-US" sz="1250" dirty="0"/>
          </a:p>
        </p:txBody>
      </p:sp>
      <p:sp>
        <p:nvSpPr>
          <p:cNvPr id="19" name="Shape 14"/>
          <p:cNvSpPr/>
          <p:nvPr/>
        </p:nvSpPr>
        <p:spPr>
          <a:xfrm>
            <a:off x="9052560" y="1737360"/>
            <a:ext cx="2514600" cy="2103120"/>
          </a:xfrm>
          <a:prstGeom prst="roundRect">
            <a:avLst>
              <a:gd name="adj" fmla="val 3478"/>
            </a:avLst>
          </a:prstGeom>
          <a:solidFill>
            <a:srgbClr val="EAF4F8"/>
          </a:solidFill>
          <a:ln/>
          <a:effectLst>
            <a:outerShdw sx="100000" sy="100000" kx="0" ky="0" algn="bl" rotWithShape="0" blurRad="101600" dist="38100" dir="2700000">
              <a:srgbClr val="000000">
                <a:alpha val="12000"/>
              </a:srgbClr>
            </a:outerShdw>
          </a:effectLst>
        </p:spPr>
      </p:sp>
      <p:sp>
        <p:nvSpPr>
          <p:cNvPr id="20" name="Shape 15"/>
          <p:cNvSpPr/>
          <p:nvPr/>
        </p:nvSpPr>
        <p:spPr>
          <a:xfrm>
            <a:off x="9989820" y="2011680"/>
            <a:ext cx="640080" cy="640080"/>
          </a:xfrm>
          <a:prstGeom prst="ellipse">
            <a:avLst/>
          </a:prstGeom>
          <a:solidFill>
            <a:srgbClr val="065A82"/>
          </a:solidFill>
          <a:ln/>
        </p:spPr>
      </p:sp>
      <p:pic>
        <p:nvPicPr>
          <p:cNvPr id="21" name="Image 3" descr="/home/claude/pptx/icons/trend.png">    </p:cNvPr>
          <p:cNvPicPr>
            <a:picLocks noChangeAspect="1"/>
          </p:cNvPicPr>
          <p:nvPr/>
        </p:nvPicPr>
        <p:blipFill>
          <a:blip r:embed="rId4"/>
          <a:stretch>
            <a:fillRect/>
          </a:stretch>
        </p:blipFill>
        <p:spPr>
          <a:xfrm>
            <a:off x="10156241" y="2178101"/>
            <a:ext cx="307238" cy="307238"/>
          </a:xfrm>
          <a:prstGeom prst="rect">
            <a:avLst/>
          </a:prstGeom>
        </p:spPr>
      </p:pic>
      <p:sp>
        <p:nvSpPr>
          <p:cNvPr id="22" name="Text 16"/>
          <p:cNvSpPr/>
          <p:nvPr/>
        </p:nvSpPr>
        <p:spPr>
          <a:xfrm>
            <a:off x="9052560" y="2788920"/>
            <a:ext cx="2514600" cy="502920"/>
          </a:xfrm>
          <a:prstGeom prst="rect">
            <a:avLst/>
          </a:prstGeom>
          <a:noFill/>
          <a:ln/>
        </p:spPr>
        <p:txBody>
          <a:bodyPr wrap="square" lIns="0" tIns="0" rIns="0" bIns="0" rtlCol="0" anchor="ctr"/>
          <a:lstStyle/>
          <a:p>
            <a:pPr algn="ctr" indent="0" marL="0">
              <a:buNone/>
            </a:pPr>
            <a:r>
              <a:rPr lang="en-US" sz="2600" b="1" dirty="0">
                <a:solidFill>
                  <a:srgbClr val="21295C"/>
                </a:solidFill>
                <a:latin typeface="Cambria" pitchFamily="34" charset="0"/>
                <a:ea typeface="Cambria" pitchFamily="34" charset="-122"/>
                <a:cs typeface="Cambria" pitchFamily="34" charset="-120"/>
              </a:rPr>
              <a:t>23</a:t>
            </a:r>
            <a:endParaRPr lang="en-US" sz="2600" dirty="0"/>
          </a:p>
        </p:txBody>
      </p:sp>
      <p:sp>
        <p:nvSpPr>
          <p:cNvPr id="23" name="Text 17"/>
          <p:cNvSpPr/>
          <p:nvPr/>
        </p:nvSpPr>
        <p:spPr>
          <a:xfrm>
            <a:off x="9144000" y="3291840"/>
            <a:ext cx="2331720" cy="457200"/>
          </a:xfrm>
          <a:prstGeom prst="rect">
            <a:avLst/>
          </a:prstGeom>
          <a:noFill/>
          <a:ln/>
        </p:spPr>
        <p:txBody>
          <a:bodyPr wrap="square" lIns="0" tIns="0" rIns="0" bIns="0" rtlCol="0" anchor="ctr"/>
          <a:lstStyle/>
          <a:p>
            <a:pPr algn="ctr" indent="0" marL="0">
              <a:buNone/>
            </a:pPr>
            <a:r>
              <a:rPr lang="en-US" sz="1250" dirty="0">
                <a:solidFill>
                  <a:srgbClr val="475569"/>
                </a:solidFill>
                <a:latin typeface="Calibri" pitchFamily="34" charset="0"/>
                <a:ea typeface="Calibri" pitchFamily="34" charset="-122"/>
                <a:cs typeface="Calibri" pitchFamily="34" charset="-120"/>
              </a:rPr>
              <a:t>Weather variables</a:t>
            </a:r>
            <a:endParaRPr lang="en-US" sz="1250" dirty="0"/>
          </a:p>
        </p:txBody>
      </p:sp>
      <p:sp>
        <p:nvSpPr>
          <p:cNvPr id="24" name="Text 18"/>
          <p:cNvSpPr/>
          <p:nvPr/>
        </p:nvSpPr>
        <p:spPr>
          <a:xfrm>
            <a:off x="548640" y="4343400"/>
            <a:ext cx="10515600" cy="36576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The brief: Project 10 — Meteorology, Storm/Rainfall Pattern Analysis</a:t>
            </a:r>
            <a:endParaRPr lang="en-US" sz="1600" dirty="0"/>
          </a:p>
        </p:txBody>
      </p:sp>
      <p:sp>
        <p:nvSpPr>
          <p:cNvPr id="25" name="Text 19"/>
          <p:cNvSpPr/>
          <p:nvPr/>
        </p:nvSpPr>
        <p:spPr>
          <a:xfrm>
            <a:off x="548640" y="4800600"/>
            <a:ext cx="10058400" cy="155448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Where does it rain the most?</a:t>
            </a:r>
            <a:endParaRPr lang="en-US" sz="1450" dirty="0"/>
          </a:p>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When during the year are storms most likely?</a:t>
            </a:r>
            <a:endParaRPr lang="en-US" sz="1450" dirty="0"/>
          </a:p>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What counts as an “extreme” rainfall day, and where do those cluster?</a:t>
            </a:r>
            <a:endParaRPr lang="en-US" sz="1450" dirty="0"/>
          </a:p>
          <a:p>
            <a:pPr marL="342900" indent="-342900">
              <a:spcAft>
                <a:spcPts val="800"/>
              </a:spcAft>
              <a:buSzPct val="100000"/>
              <a:buChar char="•"/>
            </a:pPr>
            <a:r>
              <a:rPr lang="en-US" sz="1450" dirty="0">
                <a:solidFill>
                  <a:srgbClr val="1E293B"/>
                </a:solidFill>
                <a:latin typeface="Calibri" pitchFamily="34" charset="0"/>
                <a:ea typeface="Calibri" pitchFamily="34" charset="-122"/>
                <a:cs typeface="Calibri" pitchFamily="34" charset="-120"/>
              </a:rPr>
              <a:t>Can today's weather predict tomorrow's rain?</a:t>
            </a:r>
            <a:endParaRPr lang="en-US" sz="1450" dirty="0"/>
          </a:p>
        </p:txBody>
      </p:sp>
      <p:sp>
        <p:nvSpPr>
          <p:cNvPr id="26" name="Text 20"/>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27" name="Text 2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601200" y="4389120"/>
            <a:ext cx="4572000" cy="4572000"/>
          </a:xfrm>
          <a:prstGeom prst="ellipse">
            <a:avLst/>
          </a:prstGeom>
          <a:solidFill>
            <a:srgbClr val="065A82">
              <a:alpha val="35000"/>
            </a:srgbClr>
          </a:solidFill>
          <a:ln/>
        </p:spPr>
      </p:sp>
      <p:sp>
        <p:nvSpPr>
          <p:cNvPr id="3" name="Shape 1"/>
          <p:cNvSpPr/>
          <p:nvPr/>
        </p:nvSpPr>
        <p:spPr>
          <a:xfrm>
            <a:off x="548640" y="457200"/>
            <a:ext cx="640080" cy="640080"/>
          </a:xfrm>
          <a:prstGeom prst="ellipse">
            <a:avLst/>
          </a:prstGeom>
          <a:solidFill>
            <a:srgbClr val="1C7293"/>
          </a:solidFill>
          <a:ln/>
        </p:spPr>
      </p:sp>
      <p:pic>
        <p:nvPicPr>
          <p:cNvPr id="4" name="Image 0" descr="/home/claude/pptx/icons/data.png">    </p:cNvPr>
          <p:cNvPicPr>
            <a:picLocks noChangeAspect="1"/>
          </p:cNvPicPr>
          <p:nvPr/>
        </p:nvPicPr>
        <p:blipFill>
          <a:blip r:embed="rId1"/>
          <a:stretch>
            <a:fillRect/>
          </a:stretch>
        </p:blipFill>
        <p:spPr>
          <a:xfrm>
            <a:off x="715061" y="623621"/>
            <a:ext cx="307238" cy="307238"/>
          </a:xfrm>
          <a:prstGeom prst="rect">
            <a:avLst/>
          </a:prstGeom>
        </p:spPr>
      </p:pic>
      <p:sp>
        <p:nvSpPr>
          <p:cNvPr id="5" name="Text 2"/>
          <p:cNvSpPr/>
          <p:nvPr/>
        </p:nvSpPr>
        <p:spPr>
          <a:xfrm>
            <a:off x="1371600" y="475488"/>
            <a:ext cx="5486400" cy="320040"/>
          </a:xfrm>
          <a:prstGeom prst="rect">
            <a:avLst/>
          </a:prstGeom>
          <a:noFill/>
          <a:ln/>
        </p:spPr>
        <p:txBody>
          <a:bodyPr wrap="square" lIns="0" tIns="0" rIns="0" bIns="0" rtlCol="0" anchor="ctr"/>
          <a:lstStyle/>
          <a:p>
            <a:pPr indent="0" marL="0">
              <a:buNone/>
            </a:pPr>
            <a:r>
              <a:rPr lang="en-US" sz="1300" b="1" spc="200" kern="0" dirty="0">
                <a:solidFill>
                  <a:srgbClr val="8FC1D9"/>
                </a:solidFill>
                <a:latin typeface="Calibri" pitchFamily="34" charset="0"/>
                <a:ea typeface="Calibri" pitchFamily="34" charset="-122"/>
                <a:cs typeface="Calibri" pitchFamily="34" charset="-120"/>
              </a:rPr>
              <a:t>THE FIRST DISCOVERY</a:t>
            </a:r>
            <a:endParaRPr lang="en-US" sz="1300" dirty="0"/>
          </a:p>
        </p:txBody>
      </p:sp>
      <p:sp>
        <p:nvSpPr>
          <p:cNvPr id="6" name="Text 3"/>
          <p:cNvSpPr/>
          <p:nvPr/>
        </p:nvSpPr>
        <p:spPr>
          <a:xfrm>
            <a:off x="548640" y="96012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Data Quality Bug, Hiding in Plain Sight</a:t>
            </a:r>
            <a:endParaRPr lang="en-US" sz="2800" dirty="0"/>
          </a:p>
        </p:txBody>
      </p:sp>
      <p:sp>
        <p:nvSpPr>
          <p:cNvPr id="7" name="Text 4"/>
          <p:cNvSpPr/>
          <p:nvPr/>
        </p:nvSpPr>
        <p:spPr>
          <a:xfrm>
            <a:off x="548640" y="1783080"/>
            <a:ext cx="6492240" cy="2377440"/>
          </a:xfrm>
          <a:prstGeom prst="rect">
            <a:avLst/>
          </a:prstGeom>
          <a:noFill/>
          <a:ln/>
        </p:spPr>
        <p:txBody>
          <a:bodyPr wrap="square" lIns="0" tIns="0" rIns="0" bIns="0" rtlCol="0" anchor="ctr"/>
          <a:lstStyle/>
          <a:p>
            <a:pPr marL="342900" indent="-342900">
              <a:spcAft>
                <a:spcPts val="1400"/>
              </a:spcAft>
              <a:buSzPct val="100000"/>
              <a:buChar char="•"/>
            </a:pPr>
            <a:r>
              <a:rPr lang="en-US" sz="1450" dirty="0">
                <a:solidFill>
                  <a:srgbClr val="E2E8F0"/>
                </a:solidFill>
                <a:latin typeface="Calibri" pitchFamily="34" charset="0"/>
                <a:ea typeface="Calibri" pitchFamily="34" charset="-122"/>
                <a:cs typeface="Calibri" pitchFamily="34" charset="-120"/>
              </a:rPr>
              <a:t>A standard COUNT() check said the data was almost completely clean — but that contradicted the dataset's own documentation.</a:t>
            </a:r>
            <a:endParaRPr lang="en-US" sz="1450" dirty="0"/>
          </a:p>
          <a:p>
            <a:pPr marL="342900" indent="-342900">
              <a:spcAft>
                <a:spcPts val="1400"/>
              </a:spcAft>
              <a:buSzPct val="100000"/>
              <a:buChar char="•"/>
            </a:pPr>
            <a:r>
              <a:rPr lang="en-US" sz="1450" dirty="0">
                <a:solidFill>
                  <a:srgbClr val="E2E8F0"/>
                </a:solidFill>
                <a:latin typeface="Calibri" pitchFamily="34" charset="0"/>
                <a:ea typeface="Calibri" pitchFamily="34" charset="-122"/>
                <a:cs typeface="Calibri" pitchFamily="34" charset="-120"/>
              </a:rPr>
              <a:t>The real cause: missing values (“NA” in the source CSV) were imported as literal NaN, not SQL NULL — and COUNT() only skips true NULLs.</a:t>
            </a:r>
            <a:endParaRPr lang="en-US" sz="1450" dirty="0"/>
          </a:p>
          <a:p>
            <a:pPr marL="342900" indent="-342900">
              <a:spcAft>
                <a:spcPts val="1400"/>
              </a:spcAft>
              <a:buSzPct val="100000"/>
              <a:buChar char="•"/>
            </a:pPr>
            <a:r>
              <a:rPr lang="en-US" sz="1450" dirty="0">
                <a:solidFill>
                  <a:srgbClr val="E2E8F0"/>
                </a:solidFill>
                <a:latin typeface="Calibri" pitchFamily="34" charset="0"/>
                <a:ea typeface="Calibri" pitchFamily="34" charset="-122"/>
                <a:cs typeface="Calibri" pitchFamily="34" charset="-120"/>
              </a:rPr>
              <a:t>Fix: a cleaned SQL view converting every NaN back to NULL. Every later query — SQL and R — builds on this view.</a:t>
            </a:r>
            <a:endParaRPr lang="en-US" sz="1450" dirty="0"/>
          </a:p>
        </p:txBody>
      </p:sp>
      <p:sp>
        <p:nvSpPr>
          <p:cNvPr id="8" name="Shape 5"/>
          <p:cNvSpPr/>
          <p:nvPr/>
        </p:nvSpPr>
        <p:spPr>
          <a:xfrm>
            <a:off x="7543800" y="1691640"/>
            <a:ext cx="4069080" cy="4297680"/>
          </a:xfrm>
          <a:prstGeom prst="roundRect">
            <a:avLst>
              <a:gd name="adj" fmla="val 2247"/>
            </a:avLst>
          </a:prstGeom>
          <a:solidFill>
            <a:srgbClr val="FFFFFF"/>
          </a:solidFill>
          <a:ln/>
          <a:effectLst>
            <a:outerShdw sx="100000" sy="100000" kx="0" ky="0" algn="bl" rotWithShape="0" blurRad="101600" dist="38100" dir="2700000">
              <a:srgbClr val="000000">
                <a:alpha val="12000"/>
              </a:srgbClr>
            </a:outerShdw>
          </a:effectLst>
        </p:spPr>
      </p:sp>
      <p:sp>
        <p:nvSpPr>
          <p:cNvPr id="9" name="Text 6"/>
          <p:cNvSpPr/>
          <p:nvPr/>
        </p:nvSpPr>
        <p:spPr>
          <a:xfrm>
            <a:off x="7818120" y="1920240"/>
            <a:ext cx="3520440" cy="36576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Hidden NaN Rate by Column</a:t>
            </a:r>
            <a:endParaRPr lang="en-US" sz="1400" dirty="0"/>
          </a:p>
        </p:txBody>
      </p:sp>
      <p:sp>
        <p:nvSpPr>
          <p:cNvPr id="10" name="Text 7"/>
          <p:cNvSpPr/>
          <p:nvPr/>
        </p:nvSpPr>
        <p:spPr>
          <a:xfrm>
            <a:off x="7818120" y="2468880"/>
            <a:ext cx="21031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sunshine_hrs</a:t>
            </a:r>
            <a:endParaRPr lang="en-US" sz="1250" dirty="0"/>
          </a:p>
        </p:txBody>
      </p:sp>
      <p:sp>
        <p:nvSpPr>
          <p:cNvPr id="11" name="Shape 8"/>
          <p:cNvSpPr/>
          <p:nvPr/>
        </p:nvSpPr>
        <p:spPr>
          <a:xfrm>
            <a:off x="9875520" y="2542032"/>
            <a:ext cx="777240" cy="201168"/>
          </a:xfrm>
          <a:prstGeom prst="rect">
            <a:avLst/>
          </a:prstGeom>
          <a:solidFill>
            <a:srgbClr val="E2E8F0"/>
          </a:solidFill>
          <a:ln/>
        </p:spPr>
      </p:sp>
      <p:sp>
        <p:nvSpPr>
          <p:cNvPr id="12" name="Shape 9"/>
          <p:cNvSpPr/>
          <p:nvPr/>
        </p:nvSpPr>
        <p:spPr>
          <a:xfrm>
            <a:off x="9875520" y="2542032"/>
            <a:ext cx="746150" cy="201168"/>
          </a:xfrm>
          <a:prstGeom prst="rect">
            <a:avLst/>
          </a:prstGeom>
          <a:solidFill>
            <a:srgbClr val="1C7293"/>
          </a:solidFill>
          <a:ln/>
        </p:spPr>
      </p:sp>
      <p:sp>
        <p:nvSpPr>
          <p:cNvPr id="13" name="Text 10"/>
          <p:cNvSpPr/>
          <p:nvPr/>
        </p:nvSpPr>
        <p:spPr>
          <a:xfrm>
            <a:off x="10725912" y="2468880"/>
            <a:ext cx="777240" cy="36576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48.0%</a:t>
            </a:r>
            <a:endParaRPr lang="en-US" sz="1250" dirty="0"/>
          </a:p>
        </p:txBody>
      </p:sp>
      <p:sp>
        <p:nvSpPr>
          <p:cNvPr id="14" name="Text 11"/>
          <p:cNvSpPr/>
          <p:nvPr/>
        </p:nvSpPr>
        <p:spPr>
          <a:xfrm>
            <a:off x="7818120" y="2999232"/>
            <a:ext cx="21031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cloud_3pm</a:t>
            </a:r>
            <a:endParaRPr lang="en-US" sz="1250" dirty="0"/>
          </a:p>
        </p:txBody>
      </p:sp>
      <p:sp>
        <p:nvSpPr>
          <p:cNvPr id="15" name="Shape 12"/>
          <p:cNvSpPr/>
          <p:nvPr/>
        </p:nvSpPr>
        <p:spPr>
          <a:xfrm>
            <a:off x="9875520" y="3072384"/>
            <a:ext cx="777240" cy="201168"/>
          </a:xfrm>
          <a:prstGeom prst="rect">
            <a:avLst/>
          </a:prstGeom>
          <a:solidFill>
            <a:srgbClr val="E2E8F0"/>
          </a:solidFill>
          <a:ln/>
        </p:spPr>
      </p:sp>
      <p:sp>
        <p:nvSpPr>
          <p:cNvPr id="16" name="Shape 13"/>
          <p:cNvSpPr/>
          <p:nvPr/>
        </p:nvSpPr>
        <p:spPr>
          <a:xfrm>
            <a:off x="9875520" y="3072384"/>
            <a:ext cx="634228" cy="201168"/>
          </a:xfrm>
          <a:prstGeom prst="rect">
            <a:avLst/>
          </a:prstGeom>
          <a:solidFill>
            <a:srgbClr val="1C7293"/>
          </a:solidFill>
          <a:ln/>
        </p:spPr>
      </p:sp>
      <p:sp>
        <p:nvSpPr>
          <p:cNvPr id="17" name="Text 14"/>
          <p:cNvSpPr/>
          <p:nvPr/>
        </p:nvSpPr>
        <p:spPr>
          <a:xfrm>
            <a:off x="10725912" y="2999232"/>
            <a:ext cx="777240" cy="36576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40.8%</a:t>
            </a:r>
            <a:endParaRPr lang="en-US" sz="1250" dirty="0"/>
          </a:p>
        </p:txBody>
      </p:sp>
      <p:sp>
        <p:nvSpPr>
          <p:cNvPr id="18" name="Text 15"/>
          <p:cNvSpPr/>
          <p:nvPr/>
        </p:nvSpPr>
        <p:spPr>
          <a:xfrm>
            <a:off x="7818120" y="3529584"/>
            <a:ext cx="21031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evaporation</a:t>
            </a:r>
            <a:endParaRPr lang="en-US" sz="1250" dirty="0"/>
          </a:p>
        </p:txBody>
      </p:sp>
      <p:sp>
        <p:nvSpPr>
          <p:cNvPr id="19" name="Shape 16"/>
          <p:cNvSpPr/>
          <p:nvPr/>
        </p:nvSpPr>
        <p:spPr>
          <a:xfrm>
            <a:off x="9875520" y="3602736"/>
            <a:ext cx="777240" cy="201168"/>
          </a:xfrm>
          <a:prstGeom prst="rect">
            <a:avLst/>
          </a:prstGeom>
          <a:solidFill>
            <a:srgbClr val="E2E8F0"/>
          </a:solidFill>
          <a:ln/>
        </p:spPr>
      </p:sp>
      <p:sp>
        <p:nvSpPr>
          <p:cNvPr id="20" name="Shape 17"/>
          <p:cNvSpPr/>
          <p:nvPr/>
        </p:nvSpPr>
        <p:spPr>
          <a:xfrm>
            <a:off x="9875520" y="3602736"/>
            <a:ext cx="671535" cy="201168"/>
          </a:xfrm>
          <a:prstGeom prst="rect">
            <a:avLst/>
          </a:prstGeom>
          <a:solidFill>
            <a:srgbClr val="1C7293"/>
          </a:solidFill>
          <a:ln/>
        </p:spPr>
      </p:sp>
      <p:sp>
        <p:nvSpPr>
          <p:cNvPr id="21" name="Text 18"/>
          <p:cNvSpPr/>
          <p:nvPr/>
        </p:nvSpPr>
        <p:spPr>
          <a:xfrm>
            <a:off x="10725912" y="3529584"/>
            <a:ext cx="777240" cy="36576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43.2%</a:t>
            </a:r>
            <a:endParaRPr lang="en-US" sz="1250" dirty="0"/>
          </a:p>
        </p:txBody>
      </p:sp>
      <p:sp>
        <p:nvSpPr>
          <p:cNvPr id="22" name="Text 19"/>
          <p:cNvSpPr/>
          <p:nvPr/>
        </p:nvSpPr>
        <p:spPr>
          <a:xfrm>
            <a:off x="7818120" y="4059936"/>
            <a:ext cx="21031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pressure_9am</a:t>
            </a:r>
            <a:endParaRPr lang="en-US" sz="1250" dirty="0"/>
          </a:p>
        </p:txBody>
      </p:sp>
      <p:sp>
        <p:nvSpPr>
          <p:cNvPr id="23" name="Shape 20"/>
          <p:cNvSpPr/>
          <p:nvPr/>
        </p:nvSpPr>
        <p:spPr>
          <a:xfrm>
            <a:off x="9875520" y="4133088"/>
            <a:ext cx="777240" cy="201168"/>
          </a:xfrm>
          <a:prstGeom prst="rect">
            <a:avLst/>
          </a:prstGeom>
          <a:solidFill>
            <a:srgbClr val="E2E8F0"/>
          </a:solidFill>
          <a:ln/>
        </p:spPr>
      </p:sp>
      <p:sp>
        <p:nvSpPr>
          <p:cNvPr id="24" name="Shape 21"/>
          <p:cNvSpPr/>
          <p:nvPr/>
        </p:nvSpPr>
        <p:spPr>
          <a:xfrm>
            <a:off x="9875520" y="4133088"/>
            <a:ext cx="161666" cy="201168"/>
          </a:xfrm>
          <a:prstGeom prst="rect">
            <a:avLst/>
          </a:prstGeom>
          <a:solidFill>
            <a:srgbClr val="1C7293"/>
          </a:solidFill>
          <a:ln/>
        </p:spPr>
      </p:sp>
      <p:sp>
        <p:nvSpPr>
          <p:cNvPr id="25" name="Text 22"/>
          <p:cNvSpPr/>
          <p:nvPr/>
        </p:nvSpPr>
        <p:spPr>
          <a:xfrm>
            <a:off x="10725912" y="4059936"/>
            <a:ext cx="777240" cy="36576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10.4%</a:t>
            </a:r>
            <a:endParaRPr lang="en-US" sz="1250" dirty="0"/>
          </a:p>
        </p:txBody>
      </p:sp>
      <p:sp>
        <p:nvSpPr>
          <p:cNvPr id="26" name="Text 23"/>
          <p:cNvSpPr/>
          <p:nvPr/>
        </p:nvSpPr>
        <p:spPr>
          <a:xfrm>
            <a:off x="7818120" y="4590288"/>
            <a:ext cx="21031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wind_gust_spd</a:t>
            </a:r>
            <a:endParaRPr lang="en-US" sz="1250" dirty="0"/>
          </a:p>
        </p:txBody>
      </p:sp>
      <p:sp>
        <p:nvSpPr>
          <p:cNvPr id="27" name="Shape 24"/>
          <p:cNvSpPr/>
          <p:nvPr/>
        </p:nvSpPr>
        <p:spPr>
          <a:xfrm>
            <a:off x="9875520" y="4663440"/>
            <a:ext cx="777240" cy="201168"/>
          </a:xfrm>
          <a:prstGeom prst="rect">
            <a:avLst/>
          </a:prstGeom>
          <a:solidFill>
            <a:srgbClr val="E2E8F0"/>
          </a:solidFill>
          <a:ln/>
        </p:spPr>
      </p:sp>
      <p:sp>
        <p:nvSpPr>
          <p:cNvPr id="28" name="Shape 25"/>
          <p:cNvSpPr/>
          <p:nvPr/>
        </p:nvSpPr>
        <p:spPr>
          <a:xfrm>
            <a:off x="9875520" y="4663440"/>
            <a:ext cx="110368" cy="201168"/>
          </a:xfrm>
          <a:prstGeom prst="rect">
            <a:avLst/>
          </a:prstGeom>
          <a:solidFill>
            <a:srgbClr val="1C7293"/>
          </a:solidFill>
          <a:ln/>
        </p:spPr>
      </p:sp>
      <p:sp>
        <p:nvSpPr>
          <p:cNvPr id="29" name="Text 26"/>
          <p:cNvSpPr/>
          <p:nvPr/>
        </p:nvSpPr>
        <p:spPr>
          <a:xfrm>
            <a:off x="10725912" y="4590288"/>
            <a:ext cx="777240" cy="36576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7.1%</a:t>
            </a:r>
            <a:endParaRPr lang="en-US" sz="1250" dirty="0"/>
          </a:p>
        </p:txBody>
      </p:sp>
      <p:sp>
        <p:nvSpPr>
          <p:cNvPr id="30" name="Text 27"/>
          <p:cNvSpPr/>
          <p:nvPr/>
        </p:nvSpPr>
        <p:spPr>
          <a:xfrm>
            <a:off x="7818120" y="5120640"/>
            <a:ext cx="210312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rainfall_mm</a:t>
            </a:r>
            <a:endParaRPr lang="en-US" sz="1250" dirty="0"/>
          </a:p>
        </p:txBody>
      </p:sp>
      <p:sp>
        <p:nvSpPr>
          <p:cNvPr id="31" name="Shape 28"/>
          <p:cNvSpPr/>
          <p:nvPr/>
        </p:nvSpPr>
        <p:spPr>
          <a:xfrm>
            <a:off x="9875520" y="5193792"/>
            <a:ext cx="777240" cy="201168"/>
          </a:xfrm>
          <a:prstGeom prst="rect">
            <a:avLst/>
          </a:prstGeom>
          <a:solidFill>
            <a:srgbClr val="E2E8F0"/>
          </a:solidFill>
          <a:ln/>
        </p:spPr>
      </p:sp>
      <p:sp>
        <p:nvSpPr>
          <p:cNvPr id="32" name="Shape 29"/>
          <p:cNvSpPr/>
          <p:nvPr/>
        </p:nvSpPr>
        <p:spPr>
          <a:xfrm>
            <a:off x="9875520" y="5193792"/>
            <a:ext cx="34199" cy="201168"/>
          </a:xfrm>
          <a:prstGeom prst="rect">
            <a:avLst/>
          </a:prstGeom>
          <a:solidFill>
            <a:srgbClr val="1C7293"/>
          </a:solidFill>
          <a:ln/>
        </p:spPr>
      </p:sp>
      <p:sp>
        <p:nvSpPr>
          <p:cNvPr id="33" name="Text 30"/>
          <p:cNvSpPr/>
          <p:nvPr/>
        </p:nvSpPr>
        <p:spPr>
          <a:xfrm>
            <a:off x="10725912" y="5120640"/>
            <a:ext cx="777240" cy="36576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2.2%</a:t>
            </a:r>
            <a:endParaRPr lang="en-US" sz="1250" dirty="0"/>
          </a:p>
        </p:txBody>
      </p:sp>
      <p:sp>
        <p:nvSpPr>
          <p:cNvPr id="34" name="Text 31"/>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35" name="Text 3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WHERE IT RAINS MOST</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Geography: Tropical North &amp; East Coast Dominate</a:t>
            </a:r>
            <a:endParaRPr lang="en-US" sz="3000" dirty="0"/>
          </a:p>
        </p:txBody>
      </p:sp>
      <p:graphicFrame>
        <p:nvGraphicFramePr>
          <p:cNvPr id="4" name="Chart 0" descr=""/>
          <p:cNvGraphicFramePr/>
          <p:nvPr/>
        </p:nvGraphicFramePr>
        <p:xfrm>
          <a:off x="548640" y="160020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691640"/>
            <a:ext cx="3794760" cy="4297680"/>
          </a:xfrm>
          <a:prstGeom prst="roundRect">
            <a:avLst>
              <a:gd name="adj" fmla="val 2410"/>
            </a:avLst>
          </a:prstGeom>
          <a:solidFill>
            <a:srgbClr val="EAF4F8"/>
          </a:solidFill>
          <a:ln/>
          <a:effectLst>
            <a:outerShdw sx="100000" sy="100000" kx="0" ky="0" algn="bl" rotWithShape="0" blurRad="101600" dist="38100" dir="2700000">
              <a:srgbClr val="000000">
                <a:alpha val="12000"/>
              </a:srgbClr>
            </a:outerShdw>
          </a:effectLst>
        </p:spPr>
      </p:sp>
      <p:sp>
        <p:nvSpPr>
          <p:cNvPr id="6" name="Shape 3"/>
          <p:cNvSpPr/>
          <p:nvPr/>
        </p:nvSpPr>
        <p:spPr>
          <a:xfrm>
            <a:off x="8092440" y="1965960"/>
            <a:ext cx="548640" cy="548640"/>
          </a:xfrm>
          <a:prstGeom prst="ellipse">
            <a:avLst/>
          </a:prstGeom>
          <a:solidFill>
            <a:srgbClr val="1C7293"/>
          </a:solidFill>
          <a:ln/>
        </p:spPr>
      </p:sp>
      <p:pic>
        <p:nvPicPr>
          <p:cNvPr id="7" name="Image 0" descr="/home/claude/pptx/icons/location.png">    </p:cNvPr>
          <p:cNvPicPr>
            <a:picLocks noChangeAspect="1"/>
          </p:cNvPicPr>
          <p:nvPr/>
        </p:nvPicPr>
        <p:blipFill>
          <a:blip r:embed="rId2"/>
          <a:stretch>
            <a:fillRect/>
          </a:stretch>
        </p:blipFill>
        <p:spPr>
          <a:xfrm>
            <a:off x="8235086" y="2108606"/>
            <a:ext cx="263347" cy="263347"/>
          </a:xfrm>
          <a:prstGeom prst="rect">
            <a:avLst/>
          </a:prstGeom>
        </p:spPr>
      </p:pic>
      <p:sp>
        <p:nvSpPr>
          <p:cNvPr id="8" name="Text 4"/>
          <p:cNvSpPr/>
          <p:nvPr/>
        </p:nvSpPr>
        <p:spPr>
          <a:xfrm>
            <a:off x="8778240" y="2011680"/>
            <a:ext cx="265176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Key Insight</a:t>
            </a:r>
            <a:endParaRPr lang="en-US" sz="1500" dirty="0"/>
          </a:p>
        </p:txBody>
      </p:sp>
      <p:sp>
        <p:nvSpPr>
          <p:cNvPr id="9" name="Text 5"/>
          <p:cNvSpPr/>
          <p:nvPr/>
        </p:nvSpPr>
        <p:spPr>
          <a:xfrm>
            <a:off x="8092440" y="2606040"/>
            <a:ext cx="3337560" cy="320040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1E293B"/>
                </a:solidFill>
                <a:latin typeface="Calibri" pitchFamily="34" charset="0"/>
                <a:ea typeface="Calibri" pitchFamily="34" charset="-122"/>
                <a:cs typeface="Calibri" pitchFamily="34" charset="-120"/>
              </a:rPr>
              <a:t>Cairns and Darwin top the list at over 5mm/day average — both deep in the tropical monsoon belt.</a:t>
            </a:r>
            <a:endParaRPr lang="en-US" sz="1300" dirty="0"/>
          </a:p>
          <a:p>
            <a:pPr marL="342900" indent="-342900">
              <a:spcAft>
                <a:spcPts val="1200"/>
              </a:spcAft>
              <a:buSzPct val="100000"/>
              <a:buChar char="•"/>
            </a:pPr>
            <a:r>
              <a:rPr lang="en-US" sz="1300" dirty="0">
                <a:solidFill>
                  <a:srgbClr val="1E293B"/>
                </a:solidFill>
                <a:latin typeface="Calibri" pitchFamily="34" charset="0"/>
                <a:ea typeface="Calibri" pitchFamily="34" charset="-122"/>
                <a:cs typeface="Calibri" pitchFamily="34" charset="-120"/>
              </a:rPr>
              <a:t>Every top-10 station is tropical or coastal — Coffs Harbour, Gold Coast, Sydney, Wollongong, Townsville, Brisbane.</a:t>
            </a:r>
            <a:endParaRPr lang="en-US" sz="1300" dirty="0"/>
          </a:p>
          <a:p>
            <a:pPr marL="342900" indent="-342900">
              <a:spcAft>
                <a:spcPts val="1200"/>
              </a:spcAft>
              <a:buSzPct val="100000"/>
              <a:buChar char="•"/>
            </a:pPr>
            <a:r>
              <a:rPr lang="en-US" sz="1300" dirty="0">
                <a:solidFill>
                  <a:srgbClr val="1E293B"/>
                </a:solidFill>
                <a:latin typeface="Calibri" pitchFamily="34" charset="0"/>
                <a:ea typeface="Calibri" pitchFamily="34" charset="-122"/>
                <a:cs typeface="Calibri" pitchFamily="34" charset="-120"/>
              </a:rPr>
              <a:t>No southern or inland station appears at all. Heavy rainfall in Australia is structurally tropical/coastal, not nationally uniform.</a:t>
            </a:r>
            <a:endParaRPr lang="en-US" sz="1300" dirty="0"/>
          </a:p>
        </p:txBody>
      </p:sp>
      <p:sp>
        <p:nvSpPr>
          <p:cNvPr id="10" name="Text 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11"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WHEN IT RAINS MOST</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Seasonality: February Peak, October Trough</a:t>
            </a:r>
            <a:endParaRPr lang="en-US" sz="3000" dirty="0"/>
          </a:p>
        </p:txBody>
      </p:sp>
      <p:graphicFrame>
        <p:nvGraphicFramePr>
          <p:cNvPr id="4" name="Chart 0" descr=""/>
          <p:cNvGraphicFramePr/>
          <p:nvPr/>
        </p:nvGraphicFramePr>
        <p:xfrm>
          <a:off x="548640" y="160020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83880" y="1691640"/>
            <a:ext cx="3429000" cy="4297680"/>
          </a:xfrm>
          <a:prstGeom prst="roundRect">
            <a:avLst>
              <a:gd name="adj" fmla="val 2667"/>
            </a:avLst>
          </a:prstGeom>
          <a:solidFill>
            <a:srgbClr val="EAF4F8"/>
          </a:solidFill>
          <a:ln/>
          <a:effectLst>
            <a:outerShdw sx="100000" sy="100000" kx="0" ky="0" algn="bl" rotWithShape="0" blurRad="101600" dist="38100" dir="2700000">
              <a:srgbClr val="000000">
                <a:alpha val="12000"/>
              </a:srgbClr>
            </a:outerShdw>
          </a:effectLst>
        </p:spPr>
      </p:sp>
      <p:sp>
        <p:nvSpPr>
          <p:cNvPr id="6" name="Shape 3"/>
          <p:cNvSpPr/>
          <p:nvPr/>
        </p:nvSpPr>
        <p:spPr>
          <a:xfrm>
            <a:off x="8458200" y="1965960"/>
            <a:ext cx="548640" cy="548640"/>
          </a:xfrm>
          <a:prstGeom prst="ellipse">
            <a:avLst/>
          </a:prstGeom>
          <a:solidFill>
            <a:srgbClr val="065A82"/>
          </a:solidFill>
          <a:ln/>
        </p:spPr>
      </p:sp>
      <p:pic>
        <p:nvPicPr>
          <p:cNvPr id="7" name="Image 0" descr="/home/claude/pptx/icons/calendar.png">    </p:cNvPr>
          <p:cNvPicPr>
            <a:picLocks noChangeAspect="1"/>
          </p:cNvPicPr>
          <p:nvPr/>
        </p:nvPicPr>
        <p:blipFill>
          <a:blip r:embed="rId2"/>
          <a:stretch>
            <a:fillRect/>
          </a:stretch>
        </p:blipFill>
        <p:spPr>
          <a:xfrm>
            <a:off x="8600846" y="2108606"/>
            <a:ext cx="263347" cy="263347"/>
          </a:xfrm>
          <a:prstGeom prst="rect">
            <a:avLst/>
          </a:prstGeom>
        </p:spPr>
      </p:pic>
      <p:sp>
        <p:nvSpPr>
          <p:cNvPr id="8" name="Text 4"/>
          <p:cNvSpPr/>
          <p:nvPr/>
        </p:nvSpPr>
        <p:spPr>
          <a:xfrm>
            <a:off x="9144000" y="2011680"/>
            <a:ext cx="237744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Two Rainfall Regimes</a:t>
            </a:r>
            <a:endParaRPr lang="en-US" sz="1500" dirty="0"/>
          </a:p>
        </p:txBody>
      </p:sp>
      <p:sp>
        <p:nvSpPr>
          <p:cNvPr id="9" name="Text 5"/>
          <p:cNvSpPr/>
          <p:nvPr/>
        </p:nvSpPr>
        <p:spPr>
          <a:xfrm>
            <a:off x="8458200" y="2606040"/>
            <a:ext cx="2971800" cy="329184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Feb is wettest nationally (3.19mm/day) — peak of the northern monsoon &amp; cyclone season.</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Oct is driest (1.61mm/day) — the seasonal gap between regimes.</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A smaller June peak reflects southern frontal winter rain — more frequent, less intense.</a:t>
            </a:r>
            <a:endParaRPr lang="en-US" sz="1250" dirty="0"/>
          </a:p>
          <a:p>
            <a:pPr marL="342900" indent="-342900">
              <a:spcAft>
                <a:spcPts val="1000"/>
              </a:spcAft>
              <a:buSzPct val="100000"/>
              <a:buChar char="•"/>
            </a:pPr>
            <a:r>
              <a:rPr lang="en-US" sz="1250" dirty="0">
                <a:solidFill>
                  <a:srgbClr val="1E293B"/>
                </a:solidFill>
                <a:latin typeface="Calibri" pitchFamily="34" charset="0"/>
                <a:ea typeface="Calibri" pitchFamily="34" charset="-122"/>
                <a:cs typeface="Calibri" pitchFamily="34" charset="-120"/>
              </a:rPr>
              <a:t>June actually has more rainy days than Feb, despite lower intensity per day.</a:t>
            </a:r>
            <a:endParaRPr lang="en-US" sz="1250" dirty="0"/>
          </a:p>
        </p:txBody>
      </p:sp>
      <p:sp>
        <p:nvSpPr>
          <p:cNvPr id="10" name="Text 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11"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IS RAINFALL CHANGING?</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Yearly Trend: No Steady Drift, Just Climate Cycles</a:t>
            </a:r>
            <a:endParaRPr lang="en-US" sz="3000" dirty="0"/>
          </a:p>
        </p:txBody>
      </p:sp>
      <p:graphicFrame>
        <p:nvGraphicFramePr>
          <p:cNvPr id="4" name="Chart 0" descr=""/>
          <p:cNvGraphicFramePr/>
          <p:nvPr/>
        </p:nvGraphicFramePr>
        <p:xfrm>
          <a:off x="548640" y="160020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623560"/>
            <a:ext cx="3291840" cy="41148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p = 0.32</a:t>
            </a:r>
            <a:endParaRPr lang="en-US" sz="2000" dirty="0"/>
          </a:p>
        </p:txBody>
      </p:sp>
      <p:sp>
        <p:nvSpPr>
          <p:cNvPr id="6" name="Text 3"/>
          <p:cNvSpPr/>
          <p:nvPr/>
        </p:nvSpPr>
        <p:spPr>
          <a:xfrm>
            <a:off x="548640" y="6053328"/>
            <a:ext cx="329184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Not statistically</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significant</a:t>
            </a:r>
            <a:endParaRPr lang="en-US" sz="1100" dirty="0"/>
          </a:p>
        </p:txBody>
      </p:sp>
      <p:sp>
        <p:nvSpPr>
          <p:cNvPr id="7" name="Text 4"/>
          <p:cNvSpPr/>
          <p:nvPr/>
        </p:nvSpPr>
        <p:spPr>
          <a:xfrm>
            <a:off x="4114800" y="5623560"/>
            <a:ext cx="3291840" cy="411480"/>
          </a:xfrm>
          <a:prstGeom prst="rect">
            <a:avLst/>
          </a:prstGeom>
          <a:noFill/>
          <a:ln/>
        </p:spPr>
        <p:txBody>
          <a:bodyPr wrap="square" lIns="0" tIns="0" rIns="0" bIns="0" rtlCol="0" anchor="ctr"/>
          <a:lstStyle/>
          <a:p>
            <a:pPr indent="0" marL="0">
              <a:buNone/>
            </a:pPr>
            <a:r>
              <a:rPr lang="en-US" sz="2000" b="1" dirty="0">
                <a:solidFill>
                  <a:srgbClr val="21295C"/>
                </a:solidFill>
                <a:latin typeface="Cambria" pitchFamily="34" charset="0"/>
                <a:ea typeface="Cambria" pitchFamily="34" charset="-122"/>
                <a:cs typeface="Cambria" pitchFamily="34" charset="-120"/>
              </a:rPr>
              <a:t>R² = 0.16</a:t>
            </a:r>
            <a:endParaRPr lang="en-US" sz="2000" dirty="0"/>
          </a:p>
        </p:txBody>
      </p:sp>
      <p:sp>
        <p:nvSpPr>
          <p:cNvPr id="8" name="Text 5"/>
          <p:cNvSpPr/>
          <p:nvPr/>
        </p:nvSpPr>
        <p:spPr>
          <a:xfrm>
            <a:off x="4114800" y="6053328"/>
            <a:ext cx="3291840" cy="45720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Only 16% of variance</a:t>
            </a:r>
            <a:endParaRPr lang="en-US" sz="1100" dirty="0"/>
          </a:p>
          <a:p>
            <a:pPr indent="0" marL="0">
              <a:buNone/>
            </a:pPr>
            <a:r>
              <a:rPr lang="en-US" sz="1100" dirty="0">
                <a:solidFill>
                  <a:srgbClr val="475569"/>
                </a:solidFill>
                <a:latin typeface="Calibri" pitchFamily="34" charset="0"/>
                <a:ea typeface="Calibri" pitchFamily="34" charset="-122"/>
                <a:cs typeface="Calibri" pitchFamily="34" charset="-120"/>
              </a:rPr>
              <a:t>explained by year</a:t>
            </a:r>
            <a:endParaRPr lang="en-US" sz="1100" dirty="0"/>
          </a:p>
        </p:txBody>
      </p:sp>
      <p:sp>
        <p:nvSpPr>
          <p:cNvPr id="9" name="Shape 6"/>
          <p:cNvSpPr/>
          <p:nvPr/>
        </p:nvSpPr>
        <p:spPr>
          <a:xfrm>
            <a:off x="7818120" y="1691640"/>
            <a:ext cx="3794760" cy="4297680"/>
          </a:xfrm>
          <a:prstGeom prst="roundRect">
            <a:avLst>
              <a:gd name="adj" fmla="val 2410"/>
            </a:avLst>
          </a:prstGeom>
          <a:solidFill>
            <a:srgbClr val="EAF4F8"/>
          </a:solidFill>
          <a:ln/>
          <a:effectLst>
            <a:outerShdw sx="100000" sy="100000" kx="0" ky="0" algn="bl" rotWithShape="0" blurRad="101600" dist="38100" dir="2700000">
              <a:srgbClr val="000000">
                <a:alpha val="12000"/>
              </a:srgbClr>
            </a:outerShdw>
          </a:effectLst>
        </p:spPr>
      </p:sp>
      <p:sp>
        <p:nvSpPr>
          <p:cNvPr id="10" name="Shape 7"/>
          <p:cNvSpPr/>
          <p:nvPr/>
        </p:nvSpPr>
        <p:spPr>
          <a:xfrm>
            <a:off x="8092440" y="1965960"/>
            <a:ext cx="548640" cy="548640"/>
          </a:xfrm>
          <a:prstGeom prst="ellipse">
            <a:avLst/>
          </a:prstGeom>
          <a:solidFill>
            <a:srgbClr val="1C7293"/>
          </a:solidFill>
          <a:ln/>
        </p:spPr>
      </p:sp>
      <p:pic>
        <p:nvPicPr>
          <p:cNvPr id="11" name="Image 0" descr="/home/claude/pptx/icons/trend.png">    </p:cNvPr>
          <p:cNvPicPr>
            <a:picLocks noChangeAspect="1"/>
          </p:cNvPicPr>
          <p:nvPr/>
        </p:nvPicPr>
        <p:blipFill>
          <a:blip r:embed="rId2"/>
          <a:stretch>
            <a:fillRect/>
          </a:stretch>
        </p:blipFill>
        <p:spPr>
          <a:xfrm>
            <a:off x="8235086" y="2108606"/>
            <a:ext cx="263347" cy="263347"/>
          </a:xfrm>
          <a:prstGeom prst="rect">
            <a:avLst/>
          </a:prstGeom>
        </p:spPr>
      </p:pic>
      <p:sp>
        <p:nvSpPr>
          <p:cNvPr id="12" name="Text 8"/>
          <p:cNvSpPr/>
          <p:nvPr/>
        </p:nvSpPr>
        <p:spPr>
          <a:xfrm>
            <a:off x="8778240" y="2011680"/>
            <a:ext cx="2743200" cy="36576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Linear Regression Result</a:t>
            </a:r>
            <a:endParaRPr lang="en-US" sz="1400" dirty="0"/>
          </a:p>
        </p:txBody>
      </p:sp>
      <p:sp>
        <p:nvSpPr>
          <p:cNvPr id="13" name="Text 9"/>
          <p:cNvSpPr/>
          <p:nvPr/>
        </p:nvSpPr>
        <p:spPr>
          <a:xfrm>
            <a:off x="8092440" y="2606040"/>
            <a:ext cx="3337560" cy="320040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1E293B"/>
                </a:solidFill>
                <a:latin typeface="Calibri" pitchFamily="34" charset="0"/>
                <a:ea typeface="Calibri" pitchFamily="34" charset="-122"/>
                <a:cs typeface="Calibri" pitchFamily="34" charset="-120"/>
              </a:rPr>
              <a:t>2011 (wettest) lines up exactly with the documented La Niña flooding event in eastern Australia.</a:t>
            </a:r>
            <a:endParaRPr lang="en-US" sz="1300" dirty="0"/>
          </a:p>
          <a:p>
            <a:pPr marL="342900" indent="-342900">
              <a:spcAft>
                <a:spcPts val="1200"/>
              </a:spcAft>
              <a:buSzPct val="100000"/>
              <a:buChar char="•"/>
            </a:pPr>
            <a:r>
              <a:rPr lang="en-US" sz="1300" dirty="0">
                <a:solidFill>
                  <a:srgbClr val="1E293B"/>
                </a:solidFill>
                <a:latin typeface="Calibri" pitchFamily="34" charset="0"/>
                <a:ea typeface="Calibri" pitchFamily="34" charset="-122"/>
                <a:cs typeface="Calibri" pitchFamily="34" charset="-120"/>
              </a:rPr>
              <a:t>2014 (driest) aligns with more neutral conditions.</a:t>
            </a:r>
            <a:endParaRPr lang="en-US" sz="1300" dirty="0"/>
          </a:p>
          <a:p>
            <a:pPr marL="342900" indent="-342900">
              <a:spcAft>
                <a:spcPts val="1200"/>
              </a:spcAft>
              <a:buSzPct val="100000"/>
              <a:buChar char="•"/>
            </a:pPr>
            <a:r>
              <a:rPr lang="en-US" sz="1300" dirty="0">
                <a:solidFill>
                  <a:srgbClr val="1E293B"/>
                </a:solidFill>
                <a:latin typeface="Calibri" pitchFamily="34" charset="0"/>
                <a:ea typeface="Calibri" pitchFamily="34" charset="-122"/>
                <a:cs typeface="Calibri" pitchFamily="34" charset="-120"/>
              </a:rPr>
              <a:t>Conclusion: variability here is driven by El Niño/La Niña cycles, not a steady climate trend — at least not detectable in this 10-year window.</a:t>
            </a:r>
            <a:endParaRPr lang="en-US" sz="1300" dirty="0"/>
          </a:p>
        </p:txBody>
      </p:sp>
      <p:sp>
        <p:nvSpPr>
          <p:cNvPr id="14" name="Text 10"/>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15" name="Text 1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065A82">
              <a:alpha val="35000"/>
            </a:srgbClr>
          </a:solidFill>
          <a:ln/>
        </p:spPr>
      </p:sp>
      <p:sp>
        <p:nvSpPr>
          <p:cNvPr id="3" name="Shape 1"/>
          <p:cNvSpPr/>
          <p:nvPr/>
        </p:nvSpPr>
        <p:spPr>
          <a:xfrm>
            <a:off x="548640" y="457200"/>
            <a:ext cx="640080" cy="640080"/>
          </a:xfrm>
          <a:prstGeom prst="ellipse">
            <a:avLst/>
          </a:prstGeom>
          <a:solidFill>
            <a:srgbClr val="1C7293"/>
          </a:solidFill>
          <a:ln/>
        </p:spPr>
      </p:sp>
      <p:pic>
        <p:nvPicPr>
          <p:cNvPr id="4" name="Image 0" descr="/home/claude/pptx/icons/extreme.png">    </p:cNvPr>
          <p:cNvPicPr>
            <a:picLocks noChangeAspect="1"/>
          </p:cNvPicPr>
          <p:nvPr/>
        </p:nvPicPr>
        <p:blipFill>
          <a:blip r:embed="rId1"/>
          <a:stretch>
            <a:fillRect/>
          </a:stretch>
        </p:blipFill>
        <p:spPr>
          <a:xfrm>
            <a:off x="715061" y="623621"/>
            <a:ext cx="307238" cy="307238"/>
          </a:xfrm>
          <a:prstGeom prst="rect">
            <a:avLst/>
          </a:prstGeom>
        </p:spPr>
      </p:pic>
      <p:sp>
        <p:nvSpPr>
          <p:cNvPr id="5" name="Text 2"/>
          <p:cNvSpPr/>
          <p:nvPr/>
        </p:nvSpPr>
        <p:spPr>
          <a:xfrm>
            <a:off x="1371600" y="475488"/>
            <a:ext cx="5486400" cy="320040"/>
          </a:xfrm>
          <a:prstGeom prst="rect">
            <a:avLst/>
          </a:prstGeom>
          <a:noFill/>
          <a:ln/>
        </p:spPr>
        <p:txBody>
          <a:bodyPr wrap="square" lIns="0" tIns="0" rIns="0" bIns="0" rtlCol="0" anchor="ctr"/>
          <a:lstStyle/>
          <a:p>
            <a:pPr indent="0" marL="0">
              <a:buNone/>
            </a:pPr>
            <a:r>
              <a:rPr lang="en-US" sz="1300" b="1" spc="200" kern="0" dirty="0">
                <a:solidFill>
                  <a:srgbClr val="8FC1D9"/>
                </a:solidFill>
                <a:latin typeface="Calibri" pitchFamily="34" charset="0"/>
                <a:ea typeface="Calibri" pitchFamily="34" charset="-122"/>
                <a:cs typeface="Calibri" pitchFamily="34" charset="-120"/>
              </a:rPr>
              <a:t>DEFINING THE STORMS</a:t>
            </a:r>
            <a:endParaRPr lang="en-US" sz="1300" dirty="0"/>
          </a:p>
        </p:txBody>
      </p:sp>
      <p:sp>
        <p:nvSpPr>
          <p:cNvPr id="6" name="Text 3"/>
          <p:cNvSpPr/>
          <p:nvPr/>
        </p:nvSpPr>
        <p:spPr>
          <a:xfrm>
            <a:off x="548640" y="96012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Counts as an Extreme Rainfall Day?</a:t>
            </a:r>
            <a:endParaRPr lang="en-US" sz="2800" dirty="0"/>
          </a:p>
        </p:txBody>
      </p:sp>
      <p:sp>
        <p:nvSpPr>
          <p:cNvPr id="7" name="Text 4"/>
          <p:cNvSpPr/>
          <p:nvPr/>
        </p:nvSpPr>
        <p:spPr>
          <a:xfrm>
            <a:off x="548640" y="1691640"/>
            <a:ext cx="9144000" cy="36576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Two definitions, cross-checked against each other:</a:t>
            </a:r>
            <a:endParaRPr lang="en-US" sz="1500" dirty="0"/>
          </a:p>
        </p:txBody>
      </p:sp>
      <p:sp>
        <p:nvSpPr>
          <p:cNvPr id="8" name="Shape 5"/>
          <p:cNvSpPr/>
          <p:nvPr/>
        </p:nvSpPr>
        <p:spPr>
          <a:xfrm>
            <a:off x="548640" y="2286000"/>
            <a:ext cx="2697480" cy="338328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9" name="Text 6"/>
          <p:cNvSpPr/>
          <p:nvPr/>
        </p:nvSpPr>
        <p:spPr>
          <a:xfrm>
            <a:off x="731520" y="2560320"/>
            <a:ext cx="233172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Data-driven</a:t>
            </a:r>
            <a:endParaRPr lang="en-US" sz="1600" dirty="0"/>
          </a:p>
        </p:txBody>
      </p:sp>
      <p:sp>
        <p:nvSpPr>
          <p:cNvPr id="10" name="Text 7"/>
          <p:cNvSpPr/>
          <p:nvPr/>
        </p:nvSpPr>
        <p:spPr>
          <a:xfrm>
            <a:off x="731520" y="3063240"/>
            <a:ext cx="2331720" cy="36576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Top 1% of days</a:t>
            </a:r>
            <a:endParaRPr lang="en-US" sz="1100" dirty="0"/>
          </a:p>
        </p:txBody>
      </p:sp>
      <p:sp>
        <p:nvSpPr>
          <p:cNvPr id="11" name="Text 8"/>
          <p:cNvSpPr/>
          <p:nvPr/>
        </p:nvSpPr>
        <p:spPr>
          <a:xfrm>
            <a:off x="731520" y="3749040"/>
            <a:ext cx="2331720" cy="59436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 37.4mm</a:t>
            </a:r>
            <a:endParaRPr lang="en-US" sz="2600" dirty="0"/>
          </a:p>
        </p:txBody>
      </p:sp>
      <p:sp>
        <p:nvSpPr>
          <p:cNvPr id="12" name="Text 9"/>
          <p:cNvSpPr/>
          <p:nvPr/>
        </p:nvSpPr>
        <p:spPr>
          <a:xfrm>
            <a:off x="731520" y="4617720"/>
            <a:ext cx="2331720" cy="45720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1,435 days</a:t>
            </a:r>
            <a:endParaRPr lang="en-US" sz="1400" dirty="0"/>
          </a:p>
        </p:txBody>
      </p:sp>
      <p:sp>
        <p:nvSpPr>
          <p:cNvPr id="13" name="Shape 10"/>
          <p:cNvSpPr/>
          <p:nvPr/>
        </p:nvSpPr>
        <p:spPr>
          <a:xfrm>
            <a:off x="3474720" y="2286000"/>
            <a:ext cx="2697480" cy="338328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14" name="Text 11"/>
          <p:cNvSpPr/>
          <p:nvPr/>
        </p:nvSpPr>
        <p:spPr>
          <a:xfrm>
            <a:off x="3657600" y="2560320"/>
            <a:ext cx="233172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BOM “Heavy”</a:t>
            </a:r>
            <a:endParaRPr lang="en-US" sz="1600" dirty="0"/>
          </a:p>
        </p:txBody>
      </p:sp>
      <p:sp>
        <p:nvSpPr>
          <p:cNvPr id="15" name="Text 12"/>
          <p:cNvSpPr/>
          <p:nvPr/>
        </p:nvSpPr>
        <p:spPr>
          <a:xfrm>
            <a:off x="3657600" y="3063240"/>
            <a:ext cx="2331720" cy="36576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Bureau standard</a:t>
            </a:r>
            <a:endParaRPr lang="en-US" sz="1100" dirty="0"/>
          </a:p>
        </p:txBody>
      </p:sp>
      <p:sp>
        <p:nvSpPr>
          <p:cNvPr id="16" name="Text 13"/>
          <p:cNvSpPr/>
          <p:nvPr/>
        </p:nvSpPr>
        <p:spPr>
          <a:xfrm>
            <a:off x="3657600" y="3749040"/>
            <a:ext cx="2331720" cy="59436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 25mm</a:t>
            </a:r>
            <a:endParaRPr lang="en-US" sz="2600" dirty="0"/>
          </a:p>
        </p:txBody>
      </p:sp>
      <p:sp>
        <p:nvSpPr>
          <p:cNvPr id="17" name="Text 14"/>
          <p:cNvSpPr/>
          <p:nvPr/>
        </p:nvSpPr>
        <p:spPr>
          <a:xfrm>
            <a:off x="3657600" y="4617720"/>
            <a:ext cx="2331720" cy="45720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2,904 days</a:t>
            </a:r>
            <a:endParaRPr lang="en-US" sz="1400" dirty="0"/>
          </a:p>
        </p:txBody>
      </p:sp>
      <p:sp>
        <p:nvSpPr>
          <p:cNvPr id="18" name="Shape 15"/>
          <p:cNvSpPr/>
          <p:nvPr/>
        </p:nvSpPr>
        <p:spPr>
          <a:xfrm>
            <a:off x="6400800" y="2286000"/>
            <a:ext cx="2697480" cy="3383280"/>
          </a:xfrm>
          <a:prstGeom prst="roundRect">
            <a:avLst>
              <a:gd name="adj" fmla="val 3390"/>
            </a:avLst>
          </a:prstGeom>
          <a:solidFill>
            <a:srgbClr val="FFFFFF"/>
          </a:solidFill>
          <a:ln/>
          <a:effectLst>
            <a:outerShdw sx="100000" sy="100000" kx="0" ky="0" algn="bl" rotWithShape="0" blurRad="101600" dist="38100" dir="2700000">
              <a:srgbClr val="000000">
                <a:alpha val="12000"/>
              </a:srgbClr>
            </a:outerShdw>
          </a:effectLst>
        </p:spPr>
      </p:sp>
      <p:sp>
        <p:nvSpPr>
          <p:cNvPr id="19" name="Text 16"/>
          <p:cNvSpPr/>
          <p:nvPr/>
        </p:nvSpPr>
        <p:spPr>
          <a:xfrm>
            <a:off x="6583680" y="2560320"/>
            <a:ext cx="233172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BOM “Very Heavy”</a:t>
            </a:r>
            <a:endParaRPr lang="en-US" sz="1600" dirty="0"/>
          </a:p>
        </p:txBody>
      </p:sp>
      <p:sp>
        <p:nvSpPr>
          <p:cNvPr id="20" name="Text 17"/>
          <p:cNvSpPr/>
          <p:nvPr/>
        </p:nvSpPr>
        <p:spPr>
          <a:xfrm>
            <a:off x="6583680" y="3063240"/>
            <a:ext cx="2331720" cy="365760"/>
          </a:xfrm>
          <a:prstGeom prst="rect">
            <a:avLst/>
          </a:prstGeom>
          <a:noFill/>
          <a:ln/>
        </p:spPr>
        <p:txBody>
          <a:bodyPr wrap="square" lIns="0" tIns="0" rIns="0" bIns="0"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Bureau standard</a:t>
            </a:r>
            <a:endParaRPr lang="en-US" sz="1100" dirty="0"/>
          </a:p>
        </p:txBody>
      </p:sp>
      <p:sp>
        <p:nvSpPr>
          <p:cNvPr id="21" name="Text 18"/>
          <p:cNvSpPr/>
          <p:nvPr/>
        </p:nvSpPr>
        <p:spPr>
          <a:xfrm>
            <a:off x="6583680" y="3749040"/>
            <a:ext cx="2331720" cy="594360"/>
          </a:xfrm>
          <a:prstGeom prst="rect">
            <a:avLst/>
          </a:prstGeom>
          <a:noFill/>
          <a:ln/>
        </p:spPr>
        <p:txBody>
          <a:bodyPr wrap="square" lIns="0" tIns="0" rIns="0" bIns="0" rtlCol="0" anchor="ctr"/>
          <a:lstStyle/>
          <a:p>
            <a:pPr indent="0" marL="0">
              <a:buNone/>
            </a:pPr>
            <a:r>
              <a:rPr lang="en-US" sz="2600" b="1" dirty="0">
                <a:solidFill>
                  <a:srgbClr val="065A82"/>
                </a:solidFill>
                <a:latin typeface="Cambria" pitchFamily="34" charset="0"/>
                <a:ea typeface="Cambria" pitchFamily="34" charset="-122"/>
                <a:cs typeface="Cambria" pitchFamily="34" charset="-120"/>
              </a:rPr>
              <a:t>≥ 50mm</a:t>
            </a:r>
            <a:endParaRPr lang="en-US" sz="2600" dirty="0"/>
          </a:p>
        </p:txBody>
      </p:sp>
      <p:sp>
        <p:nvSpPr>
          <p:cNvPr id="22" name="Text 19"/>
          <p:cNvSpPr/>
          <p:nvPr/>
        </p:nvSpPr>
        <p:spPr>
          <a:xfrm>
            <a:off x="6583680" y="4617720"/>
            <a:ext cx="2331720" cy="45720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808 days</a:t>
            </a:r>
            <a:endParaRPr lang="en-US" sz="1400" dirty="0"/>
          </a:p>
        </p:txBody>
      </p:sp>
      <p:sp>
        <p:nvSpPr>
          <p:cNvPr id="23" name="Shape 20"/>
          <p:cNvSpPr/>
          <p:nvPr/>
        </p:nvSpPr>
        <p:spPr>
          <a:xfrm>
            <a:off x="9326880" y="2286000"/>
            <a:ext cx="2697480" cy="3383280"/>
          </a:xfrm>
          <a:prstGeom prst="roundRect">
            <a:avLst>
              <a:gd name="adj" fmla="val 3390"/>
            </a:avLst>
          </a:prstGeom>
          <a:solidFill>
            <a:srgbClr val="1C7293"/>
          </a:solidFill>
          <a:ln/>
          <a:effectLst>
            <a:outerShdw sx="100000" sy="100000" kx="0" ky="0" algn="bl" rotWithShape="0" blurRad="101600" dist="38100" dir="2700000">
              <a:srgbClr val="000000">
                <a:alpha val="12000"/>
              </a:srgbClr>
            </a:outerShdw>
          </a:effectLst>
        </p:spPr>
      </p:sp>
      <p:sp>
        <p:nvSpPr>
          <p:cNvPr id="24" name="Text 21"/>
          <p:cNvSpPr/>
          <p:nvPr/>
        </p:nvSpPr>
        <p:spPr>
          <a:xfrm>
            <a:off x="9509760" y="2560320"/>
            <a:ext cx="23317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BOM “Extreme”</a:t>
            </a:r>
            <a:endParaRPr lang="en-US" sz="1600" dirty="0"/>
          </a:p>
        </p:txBody>
      </p:sp>
      <p:sp>
        <p:nvSpPr>
          <p:cNvPr id="25" name="Text 22"/>
          <p:cNvSpPr/>
          <p:nvPr/>
        </p:nvSpPr>
        <p:spPr>
          <a:xfrm>
            <a:off x="9509760" y="3063240"/>
            <a:ext cx="2331720" cy="36576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Bureau standard</a:t>
            </a:r>
            <a:endParaRPr lang="en-US" sz="1100" dirty="0"/>
          </a:p>
        </p:txBody>
      </p:sp>
      <p:sp>
        <p:nvSpPr>
          <p:cNvPr id="26" name="Text 23"/>
          <p:cNvSpPr/>
          <p:nvPr/>
        </p:nvSpPr>
        <p:spPr>
          <a:xfrm>
            <a:off x="9509760" y="3749040"/>
            <a:ext cx="23317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 100mm</a:t>
            </a:r>
            <a:endParaRPr lang="en-US" sz="2600" dirty="0"/>
          </a:p>
        </p:txBody>
      </p:sp>
      <p:sp>
        <p:nvSpPr>
          <p:cNvPr id="27" name="Text 24"/>
          <p:cNvSpPr/>
          <p:nvPr/>
        </p:nvSpPr>
        <p:spPr>
          <a:xfrm>
            <a:off x="9509760" y="4617720"/>
            <a:ext cx="2331720" cy="457200"/>
          </a:xfrm>
          <a:prstGeom prst="rect">
            <a:avLst/>
          </a:prstGeom>
          <a:noFill/>
          <a:ln/>
        </p:spPr>
        <p:txBody>
          <a:bodyPr wrap="square" lIns="0" tIns="0" rIns="0" bIns="0" rtlCol="0" anchor="ctr"/>
          <a:lstStyle/>
          <a:p>
            <a:pPr indent="0" marL="0">
              <a:buNone/>
            </a:pPr>
            <a:r>
              <a:rPr lang="en-US" sz="1400" b="1" dirty="0">
                <a:solidFill>
                  <a:srgbClr val="E8F4F8"/>
                </a:solidFill>
                <a:latin typeface="Calibri" pitchFamily="34" charset="0"/>
                <a:ea typeface="Calibri" pitchFamily="34" charset="-122"/>
                <a:cs typeface="Calibri" pitchFamily="34" charset="-120"/>
              </a:rPr>
              <a:t>151 days</a:t>
            </a:r>
            <a:endParaRPr lang="en-US" sz="1400" dirty="0"/>
          </a:p>
        </p:txBody>
      </p:sp>
      <p:sp>
        <p:nvSpPr>
          <p:cNvPr id="28" name="Text 25"/>
          <p:cNvSpPr/>
          <p:nvPr/>
        </p:nvSpPr>
        <p:spPr>
          <a:xfrm>
            <a:off x="548640" y="5897880"/>
            <a:ext cx="10515600" cy="36576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The data-driven cutoff sits right between BOM “heavy” and “very heavy” — the two approaches agree.</a:t>
            </a:r>
            <a:endParaRPr lang="en-US" sz="1250" dirty="0"/>
          </a:p>
        </p:txBody>
      </p:sp>
      <p:sp>
        <p:nvSpPr>
          <p:cNvPr id="29" name="Text 2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30" name="Text 2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151 EXTREME DAYS, ONE CLEAR PATTERN</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Extreme Rainfall: Where &amp; When</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309360" cy="4389120"/>
        </p:xfrm>
        <a:graphic>
          <a:graphicData uri="http://schemas.openxmlformats.org/drawingml/2006/table">
            <a:tbl>
              <a:tblPr/>
              <a:tblGrid>
                <a:gridCol w="2103120"/>
                <a:gridCol w="2103120"/>
                <a:gridCol w="2103120"/>
              </a:tblGrid>
              <a:tr h="48463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Location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Month</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Extreme Days (≥100mm)</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5A82"/>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Darwin</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February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Cairns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February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Cairns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January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Cairns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March</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Coffs Harbour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Jan / Feb / Mar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4 each</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Brisbane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January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Gold Coast</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April</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r h="484632">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Townsville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Feb / Mar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4 each</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F4F8"/>
                    </a:solidFill>
                  </a:tcPr>
                </a:tc>
              </a:tr>
            </a:tbl>
          </a:graphicData>
        </a:graphic>
      </p:graphicFrame>
      <p:sp>
        <p:nvSpPr>
          <p:cNvPr id="5" name="Shape 2"/>
          <p:cNvSpPr/>
          <p:nvPr/>
        </p:nvSpPr>
        <p:spPr>
          <a:xfrm>
            <a:off x="7178040" y="1691640"/>
            <a:ext cx="4434840" cy="4297680"/>
          </a:xfrm>
          <a:prstGeom prst="roundRect">
            <a:avLst>
              <a:gd name="adj" fmla="val 2128"/>
            </a:avLst>
          </a:prstGeom>
          <a:solidFill>
            <a:srgbClr val="21295C"/>
          </a:solidFill>
          <a:ln/>
          <a:effectLst>
            <a:outerShdw sx="100000" sy="100000" kx="0" ky="0" algn="bl" rotWithShape="0" blurRad="101600" dist="38100" dir="2700000">
              <a:srgbClr val="000000">
                <a:alpha val="12000"/>
              </a:srgbClr>
            </a:outerShdw>
          </a:effectLst>
        </p:spPr>
      </p:sp>
      <p:sp>
        <p:nvSpPr>
          <p:cNvPr id="6" name="Shape 3"/>
          <p:cNvSpPr/>
          <p:nvPr/>
        </p:nvSpPr>
        <p:spPr>
          <a:xfrm>
            <a:off x="7452360" y="1965960"/>
            <a:ext cx="548640" cy="548640"/>
          </a:xfrm>
          <a:prstGeom prst="ellipse">
            <a:avLst/>
          </a:prstGeom>
          <a:solidFill>
            <a:srgbClr val="1C7293"/>
          </a:solidFill>
          <a:ln/>
        </p:spPr>
      </p:sp>
      <p:pic>
        <p:nvPicPr>
          <p:cNvPr id="7" name="Image 0" descr="/home/claude/pptx/icons/extreme.png">    </p:cNvPr>
          <p:cNvPicPr>
            <a:picLocks noChangeAspect="1"/>
          </p:cNvPicPr>
          <p:nvPr/>
        </p:nvPicPr>
        <p:blipFill>
          <a:blip r:embed="rId1"/>
          <a:stretch>
            <a:fillRect/>
          </a:stretch>
        </p:blipFill>
        <p:spPr>
          <a:xfrm>
            <a:off x="7595006" y="2108606"/>
            <a:ext cx="263347" cy="263347"/>
          </a:xfrm>
          <a:prstGeom prst="rect">
            <a:avLst/>
          </a:prstGeom>
        </p:spPr>
      </p:pic>
      <p:sp>
        <p:nvSpPr>
          <p:cNvPr id="8" name="Text 4"/>
          <p:cNvSpPr/>
          <p:nvPr/>
        </p:nvSpPr>
        <p:spPr>
          <a:xfrm>
            <a:off x="8138160" y="2011680"/>
            <a:ext cx="32918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Pattern</a:t>
            </a:r>
            <a:endParaRPr lang="en-US" sz="1600" dirty="0"/>
          </a:p>
        </p:txBody>
      </p:sp>
      <p:sp>
        <p:nvSpPr>
          <p:cNvPr id="9" name="Text 5"/>
          <p:cNvSpPr/>
          <p:nvPr/>
        </p:nvSpPr>
        <p:spPr>
          <a:xfrm>
            <a:off x="7452360" y="2697480"/>
            <a:ext cx="3886200" cy="310896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Every top entry is tropical or sub-tropical — Darwin, Cairns, Coffs Harbour, Townsville.</a:t>
            </a:r>
            <a:endParaRPr lang="en-US" sz="1300" dirty="0"/>
          </a:p>
          <a:p>
            <a:pPr marL="342900" indent="-3429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Every one falls in Jan–April — the monsoon and cyclone season.</a:t>
            </a:r>
            <a:endParaRPr lang="en-US" sz="1300" dirty="0"/>
          </a:p>
          <a:p>
            <a:pPr marL="342900" indent="-3429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No southern or temperate station appears anywhere on this list.</a:t>
            </a:r>
            <a:endParaRPr lang="en-US" sz="1300" dirty="0"/>
          </a:p>
          <a:p>
            <a:pPr marL="342900" indent="-3429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151 extreme days nationally over the decade — roughly 15 per year.</a:t>
            </a:r>
            <a:endParaRPr lang="en-US" sz="1300" dirty="0"/>
          </a:p>
        </p:txBody>
      </p:sp>
      <p:sp>
        <p:nvSpPr>
          <p:cNvPr id="10" name="Text 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11"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PHYSICAL MECHANISM</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Storms Get Windier, Wetter &amp; Lower-Pressure</a:t>
            </a:r>
            <a:endParaRPr lang="en-US" sz="3000" dirty="0"/>
          </a:p>
        </p:txBody>
      </p:sp>
      <p:sp>
        <p:nvSpPr>
          <p:cNvPr id="4" name="Text 2"/>
          <p:cNvSpPr/>
          <p:nvPr/>
        </p:nvSpPr>
        <p:spPr>
          <a:xfrm>
            <a:off x="548640" y="1371600"/>
            <a:ext cx="10515600" cy="36576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Mean same-day conditions across 2,904 heavy-rain-or-worse days, grouped by severity tier</a:t>
            </a:r>
            <a:endParaRPr lang="en-US" sz="1300" dirty="0"/>
          </a:p>
        </p:txBody>
      </p:sp>
      <p:graphicFrame>
        <p:nvGraphicFramePr>
          <p:cNvPr id="5" name="Chart 0" descr=""/>
          <p:cNvGraphicFramePr/>
          <p:nvPr/>
        </p:nvGraphicFramePr>
        <p:xfrm>
          <a:off x="548640" y="1920240"/>
          <a:ext cx="347472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251960" y="1920240"/>
          <a:ext cx="3474720" cy="393192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7955280" y="1920240"/>
          <a:ext cx="3474720" cy="3931920"/>
        </p:xfrm>
        <a:graphic xmlns:a="http://schemas.openxmlformats.org/drawingml/2006/main">
          <a:graphicData uri="http://schemas.openxmlformats.org/drawingml/2006/chart">
            <c:chart xmlns:c="http://schemas.openxmlformats.org/drawingml/2006/chart" r:id="rId3"/>
          </a:graphicData>
        </a:graphic>
      </p:graphicFrame>
      <p:sp>
        <p:nvSpPr>
          <p:cNvPr id="8" name="Text 3"/>
          <p:cNvSpPr/>
          <p:nvPr/>
        </p:nvSpPr>
        <p:spPr>
          <a:xfrm>
            <a:off x="548640" y="6035040"/>
            <a:ext cx="10881360" cy="457200"/>
          </a:xfrm>
          <a:prstGeom prst="rect">
            <a:avLst/>
          </a:prstGeom>
          <a:noFill/>
          <a:ln/>
        </p:spPr>
        <p:txBody>
          <a:bodyPr wrap="square" lIns="0" tIns="0" rIns="0" bIns="0" rtlCol="0" anchor="ctr"/>
          <a:lstStyle/>
          <a:p>
            <a:pPr indent="0" marL="0">
              <a:buNone/>
            </a:pPr>
            <a:r>
              <a:rPr lang="en-US" sz="1300" b="1" i="1" dirty="0">
                <a:solidFill>
                  <a:srgbClr val="21295C"/>
                </a:solidFill>
                <a:latin typeface="Calibri" pitchFamily="34" charset="0"/>
                <a:ea typeface="Calibri" pitchFamily="34" charset="-122"/>
                <a:cs typeface="Calibri" pitchFamily="34" charset="-120"/>
              </a:rPr>
              <a:t>Every variable moves in the direction predicted by monsoon/cyclone theory — and it scales with severity, not just present vs. absent.</a:t>
            </a:r>
            <a:endParaRPr lang="en-US" sz="1300" dirty="0"/>
          </a:p>
        </p:txBody>
      </p:sp>
      <p:sp>
        <p:nvSpPr>
          <p:cNvPr id="9"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10" name="Text 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 SECOND LENS</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Frequency vs. Intensity: Two Different Stories</a:t>
            </a:r>
            <a:endParaRPr lang="en-US" sz="3000" dirty="0"/>
          </a:p>
        </p:txBody>
      </p:sp>
      <p:graphicFrame>
        <p:nvGraphicFramePr>
          <p:cNvPr id="4" name="Chart 0" descr=""/>
          <p:cNvGraphicFramePr/>
          <p:nvPr/>
        </p:nvGraphicFramePr>
        <p:xfrm>
          <a:off x="548640" y="1600200"/>
          <a:ext cx="53949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600200"/>
          <a:ext cx="5394960" cy="41148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852160"/>
            <a:ext cx="11064240" cy="685800"/>
          </a:xfrm>
          <a:prstGeom prst="roundRect">
            <a:avLst>
              <a:gd name="adj" fmla="val 10667"/>
            </a:avLst>
          </a:prstGeom>
          <a:solidFill>
            <a:srgbClr val="EAF4F8"/>
          </a:solidFill>
          <a:ln/>
        </p:spPr>
      </p:sp>
      <p:sp>
        <p:nvSpPr>
          <p:cNvPr id="7" name="Text 3"/>
          <p:cNvSpPr/>
          <p:nvPr/>
        </p:nvSpPr>
        <p:spPr>
          <a:xfrm>
            <a:off x="777240" y="5943600"/>
            <a:ext cx="10607040" cy="5029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Townsville: </a:t>
            </a:r>
            <a:pPr indent="0" marL="0">
              <a:buNone/>
            </a:pPr>
            <a:r>
              <a:rPr lang="en-US" sz="1300" dirty="0">
                <a:solidFill>
                  <a:srgbClr val="1E293B"/>
                </a:solidFill>
                <a:latin typeface="Calibri" pitchFamily="34" charset="0"/>
                <a:ea typeface="Calibri" pitchFamily="34" charset="-122"/>
                <a:cs typeface="Calibri" pitchFamily="34" charset="-120"/>
              </a:rPr>
              <a:t>lowest frequency (17.1%) of the top 10, yet the highest intensity (20.3mm/rainy day) — classic infrequent-but-intense tropical pattern. Cairns leads on both.</a:t>
            </a:r>
            <a:endParaRPr lang="en-US" sz="1300" dirty="0"/>
          </a:p>
        </p:txBody>
      </p:sp>
      <p:sp>
        <p:nvSpPr>
          <p:cNvPr id="8" name="Text 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9" name="Text 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418320" y="-1371600"/>
            <a:ext cx="4572000" cy="4572000"/>
          </a:xfrm>
          <a:prstGeom prst="ellipse">
            <a:avLst/>
          </a:prstGeom>
          <a:solidFill>
            <a:srgbClr val="065A82">
              <a:alpha val="40000"/>
            </a:srgbClr>
          </a:solidFill>
          <a:ln/>
        </p:spPr>
      </p:sp>
      <p:sp>
        <p:nvSpPr>
          <p:cNvPr id="3" name="Shape 1"/>
          <p:cNvSpPr/>
          <p:nvPr/>
        </p:nvSpPr>
        <p:spPr>
          <a:xfrm>
            <a:off x="548640" y="457200"/>
            <a:ext cx="640080" cy="640080"/>
          </a:xfrm>
          <a:prstGeom prst="ellipse">
            <a:avLst/>
          </a:prstGeom>
          <a:solidFill>
            <a:srgbClr val="1C7293"/>
          </a:solidFill>
          <a:ln/>
        </p:spPr>
      </p:sp>
      <p:pic>
        <p:nvPicPr>
          <p:cNvPr id="4" name="Image 0" descr="/home/claude/pptx/icons/ml.png">    </p:cNvPr>
          <p:cNvPicPr>
            <a:picLocks noChangeAspect="1"/>
          </p:cNvPicPr>
          <p:nvPr/>
        </p:nvPicPr>
        <p:blipFill>
          <a:blip r:embed="rId1"/>
          <a:stretch>
            <a:fillRect/>
          </a:stretch>
        </p:blipFill>
        <p:spPr>
          <a:xfrm>
            <a:off x="715061" y="623621"/>
            <a:ext cx="307238" cy="307238"/>
          </a:xfrm>
          <a:prstGeom prst="rect">
            <a:avLst/>
          </a:prstGeom>
        </p:spPr>
      </p:pic>
      <p:sp>
        <p:nvSpPr>
          <p:cNvPr id="5" name="Text 2"/>
          <p:cNvSpPr/>
          <p:nvPr/>
        </p:nvSpPr>
        <p:spPr>
          <a:xfrm>
            <a:off x="1371600" y="475488"/>
            <a:ext cx="5486400" cy="320040"/>
          </a:xfrm>
          <a:prstGeom prst="rect">
            <a:avLst/>
          </a:prstGeom>
          <a:noFill/>
          <a:ln/>
        </p:spPr>
        <p:txBody>
          <a:bodyPr wrap="square" lIns="0" tIns="0" rIns="0" bIns="0" rtlCol="0" anchor="ctr"/>
          <a:lstStyle/>
          <a:p>
            <a:pPr indent="0" marL="0">
              <a:buNone/>
            </a:pPr>
            <a:r>
              <a:rPr lang="en-US" sz="1300" b="1" spc="200" kern="0" dirty="0">
                <a:solidFill>
                  <a:srgbClr val="8FC1D9"/>
                </a:solidFill>
                <a:latin typeface="Calibri" pitchFamily="34" charset="0"/>
                <a:ea typeface="Calibri" pitchFamily="34" charset="-122"/>
                <a:cs typeface="Calibri" pitchFamily="34" charset="-120"/>
              </a:rPr>
              <a:t>CAN WE PREDICT IT?</a:t>
            </a:r>
            <a:endParaRPr lang="en-US" sz="1300" dirty="0"/>
          </a:p>
        </p:txBody>
      </p:sp>
      <p:sp>
        <p:nvSpPr>
          <p:cNvPr id="6" name="Text 3"/>
          <p:cNvSpPr/>
          <p:nvPr/>
        </p:nvSpPr>
        <p:spPr>
          <a:xfrm>
            <a:off x="548640" y="96012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Predicting Tomorrow's Rain</a:t>
            </a:r>
            <a:endParaRPr lang="en-US" sz="2800" dirty="0"/>
          </a:p>
        </p:txBody>
      </p:sp>
      <p:sp>
        <p:nvSpPr>
          <p:cNvPr id="7" name="Text 4"/>
          <p:cNvSpPr/>
          <p:nvPr/>
        </p:nvSpPr>
        <p:spPr>
          <a:xfrm>
            <a:off x="548640" y="1554480"/>
            <a:ext cx="10058400" cy="36576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Logistic regression in R, trained on 119,777 complete observations using same-day weather conditions</a:t>
            </a:r>
            <a:endParaRPr lang="en-US" sz="1300" dirty="0"/>
          </a:p>
        </p:txBody>
      </p:sp>
      <p:sp>
        <p:nvSpPr>
          <p:cNvPr id="8" name="Shape 5"/>
          <p:cNvSpPr/>
          <p:nvPr/>
        </p:nvSpPr>
        <p:spPr>
          <a:xfrm>
            <a:off x="548640" y="2286000"/>
            <a:ext cx="2606040" cy="22860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9" name="Text 6"/>
          <p:cNvSpPr/>
          <p:nvPr/>
        </p:nvSpPr>
        <p:spPr>
          <a:xfrm>
            <a:off x="685800" y="2514600"/>
            <a:ext cx="2331720" cy="594360"/>
          </a:xfrm>
          <a:prstGeom prst="rect">
            <a:avLst/>
          </a:prstGeom>
          <a:noFill/>
          <a:ln/>
        </p:spPr>
        <p:txBody>
          <a:bodyPr wrap="square" lIns="0" tIns="0" rIns="0" bIns="0" rtlCol="0" anchor="ctr"/>
          <a:lstStyle/>
          <a:p>
            <a:pPr algn="ctr" indent="0" marL="0">
              <a:buNone/>
            </a:pPr>
            <a:r>
              <a:rPr lang="en-US" sz="2800" b="1" dirty="0">
                <a:solidFill>
                  <a:srgbClr val="065A82"/>
                </a:solidFill>
                <a:latin typeface="Cambria" pitchFamily="34" charset="0"/>
                <a:ea typeface="Cambria" pitchFamily="34" charset="-122"/>
                <a:cs typeface="Cambria" pitchFamily="34" charset="-120"/>
              </a:rPr>
              <a:t>84.79%</a:t>
            </a:r>
            <a:endParaRPr lang="en-US" sz="2800" dirty="0"/>
          </a:p>
        </p:txBody>
      </p:sp>
      <p:sp>
        <p:nvSpPr>
          <p:cNvPr id="10" name="Text 7"/>
          <p:cNvSpPr/>
          <p:nvPr/>
        </p:nvSpPr>
        <p:spPr>
          <a:xfrm>
            <a:off x="685800" y="3154680"/>
            <a:ext cx="2331720" cy="365760"/>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Accuracy</a:t>
            </a:r>
            <a:endParaRPr lang="en-US" sz="1400" dirty="0"/>
          </a:p>
        </p:txBody>
      </p:sp>
      <p:sp>
        <p:nvSpPr>
          <p:cNvPr id="11" name="Text 8"/>
          <p:cNvSpPr/>
          <p:nvPr/>
        </p:nvSpPr>
        <p:spPr>
          <a:xfrm>
            <a:off x="685800" y="3566160"/>
            <a:ext cx="2331720" cy="82296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Overall correct</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prediction rate</a:t>
            </a:r>
            <a:endParaRPr lang="en-US" sz="1100" dirty="0"/>
          </a:p>
        </p:txBody>
      </p:sp>
      <p:sp>
        <p:nvSpPr>
          <p:cNvPr id="12" name="Shape 9"/>
          <p:cNvSpPr/>
          <p:nvPr/>
        </p:nvSpPr>
        <p:spPr>
          <a:xfrm>
            <a:off x="3401568" y="2286000"/>
            <a:ext cx="2606040" cy="22860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13" name="Text 10"/>
          <p:cNvSpPr/>
          <p:nvPr/>
        </p:nvSpPr>
        <p:spPr>
          <a:xfrm>
            <a:off x="3538728" y="2514600"/>
            <a:ext cx="2331720" cy="594360"/>
          </a:xfrm>
          <a:prstGeom prst="rect">
            <a:avLst/>
          </a:prstGeom>
          <a:noFill/>
          <a:ln/>
        </p:spPr>
        <p:txBody>
          <a:bodyPr wrap="square" lIns="0" tIns="0" rIns="0" bIns="0" rtlCol="0" anchor="ctr"/>
          <a:lstStyle/>
          <a:p>
            <a:pPr algn="ctr" indent="0" marL="0">
              <a:buNone/>
            </a:pPr>
            <a:r>
              <a:rPr lang="en-US" sz="2800" b="1" dirty="0">
                <a:solidFill>
                  <a:srgbClr val="065A82"/>
                </a:solidFill>
                <a:latin typeface="Cambria" pitchFamily="34" charset="0"/>
                <a:ea typeface="Cambria" pitchFamily="34" charset="-122"/>
                <a:cs typeface="Cambria" pitchFamily="34" charset="-120"/>
              </a:rPr>
              <a:t>94.80%</a:t>
            </a:r>
            <a:endParaRPr lang="en-US" sz="2800" dirty="0"/>
          </a:p>
        </p:txBody>
      </p:sp>
      <p:sp>
        <p:nvSpPr>
          <p:cNvPr id="14" name="Text 11"/>
          <p:cNvSpPr/>
          <p:nvPr/>
        </p:nvSpPr>
        <p:spPr>
          <a:xfrm>
            <a:off x="3538728" y="3154680"/>
            <a:ext cx="2331720" cy="365760"/>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Specificity</a:t>
            </a:r>
            <a:endParaRPr lang="en-US" sz="1400" dirty="0"/>
          </a:p>
        </p:txBody>
      </p:sp>
      <p:sp>
        <p:nvSpPr>
          <p:cNvPr id="15" name="Text 12"/>
          <p:cNvSpPr/>
          <p:nvPr/>
        </p:nvSpPr>
        <p:spPr>
          <a:xfrm>
            <a:off x="3538728" y="3566160"/>
            <a:ext cx="2331720" cy="82296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Correctly identifies</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dry days</a:t>
            </a:r>
            <a:endParaRPr lang="en-US" sz="1100" dirty="0"/>
          </a:p>
        </p:txBody>
      </p:sp>
      <p:sp>
        <p:nvSpPr>
          <p:cNvPr id="16" name="Shape 13"/>
          <p:cNvSpPr/>
          <p:nvPr/>
        </p:nvSpPr>
        <p:spPr>
          <a:xfrm>
            <a:off x="6254496" y="2286000"/>
            <a:ext cx="2606040" cy="2286000"/>
          </a:xfrm>
          <a:prstGeom prst="roundRect">
            <a:avLst>
              <a:gd name="adj" fmla="val 4000"/>
            </a:avLst>
          </a:prstGeom>
          <a:solidFill>
            <a:srgbClr val="FFFFFF"/>
          </a:solidFill>
          <a:ln/>
          <a:effectLst>
            <a:outerShdw sx="100000" sy="100000" kx="0" ky="0" algn="bl" rotWithShape="0" blurRad="101600" dist="38100" dir="2700000">
              <a:srgbClr val="000000">
                <a:alpha val="12000"/>
              </a:srgbClr>
            </a:outerShdw>
          </a:effectLst>
        </p:spPr>
      </p:sp>
      <p:sp>
        <p:nvSpPr>
          <p:cNvPr id="17" name="Text 14"/>
          <p:cNvSpPr/>
          <p:nvPr/>
        </p:nvSpPr>
        <p:spPr>
          <a:xfrm>
            <a:off x="6391656" y="2514600"/>
            <a:ext cx="2331720" cy="594360"/>
          </a:xfrm>
          <a:prstGeom prst="rect">
            <a:avLst/>
          </a:prstGeom>
          <a:noFill/>
          <a:ln/>
        </p:spPr>
        <p:txBody>
          <a:bodyPr wrap="square" lIns="0" tIns="0" rIns="0" bIns="0" rtlCol="0" anchor="ctr"/>
          <a:lstStyle/>
          <a:p>
            <a:pPr algn="ctr" indent="0" marL="0">
              <a:buNone/>
            </a:pPr>
            <a:r>
              <a:rPr lang="en-US" sz="2800" b="1" dirty="0">
                <a:solidFill>
                  <a:srgbClr val="065A82"/>
                </a:solidFill>
                <a:latin typeface="Cambria" pitchFamily="34" charset="0"/>
                <a:ea typeface="Cambria" pitchFamily="34" charset="-122"/>
                <a:cs typeface="Cambria" pitchFamily="34" charset="-120"/>
              </a:rPr>
              <a:t>72.61%</a:t>
            </a:r>
            <a:endParaRPr lang="en-US" sz="2800" dirty="0"/>
          </a:p>
        </p:txBody>
      </p:sp>
      <p:sp>
        <p:nvSpPr>
          <p:cNvPr id="18" name="Text 15"/>
          <p:cNvSpPr/>
          <p:nvPr/>
        </p:nvSpPr>
        <p:spPr>
          <a:xfrm>
            <a:off x="6391656" y="3154680"/>
            <a:ext cx="2331720" cy="365760"/>
          </a:xfrm>
          <a:prstGeom prst="rect">
            <a:avLst/>
          </a:prstGeom>
          <a:noFill/>
          <a:ln/>
        </p:spPr>
        <p:txBody>
          <a:bodyPr wrap="square" lIns="0" tIns="0" rIns="0" bIns="0" rtlCol="0" anchor="ctr"/>
          <a:lstStyle/>
          <a:p>
            <a:pPr algn="ctr" indent="0" marL="0">
              <a:buNone/>
            </a:pPr>
            <a:r>
              <a:rPr lang="en-US" sz="1400" b="1" dirty="0">
                <a:solidFill>
                  <a:srgbClr val="21295C"/>
                </a:solidFill>
                <a:latin typeface="Calibri" pitchFamily="34" charset="0"/>
                <a:ea typeface="Calibri" pitchFamily="34" charset="-122"/>
                <a:cs typeface="Calibri" pitchFamily="34" charset="-120"/>
              </a:rPr>
              <a:t>Precision</a:t>
            </a:r>
            <a:endParaRPr lang="en-US" sz="1400" dirty="0"/>
          </a:p>
        </p:txBody>
      </p:sp>
      <p:sp>
        <p:nvSpPr>
          <p:cNvPr id="19" name="Text 16"/>
          <p:cNvSpPr/>
          <p:nvPr/>
        </p:nvSpPr>
        <p:spPr>
          <a:xfrm>
            <a:off x="6391656" y="3566160"/>
            <a:ext cx="2331720" cy="82296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Predicted-rain days</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that were right</a:t>
            </a:r>
            <a:endParaRPr lang="en-US" sz="1100" dirty="0"/>
          </a:p>
        </p:txBody>
      </p:sp>
      <p:sp>
        <p:nvSpPr>
          <p:cNvPr id="20" name="Shape 17"/>
          <p:cNvSpPr/>
          <p:nvPr/>
        </p:nvSpPr>
        <p:spPr>
          <a:xfrm>
            <a:off x="9107424" y="2286000"/>
            <a:ext cx="2606040" cy="2286000"/>
          </a:xfrm>
          <a:prstGeom prst="roundRect">
            <a:avLst>
              <a:gd name="adj" fmla="val 4000"/>
            </a:avLst>
          </a:prstGeom>
          <a:solidFill>
            <a:srgbClr val="8A2940"/>
          </a:solidFill>
          <a:ln/>
          <a:effectLst>
            <a:outerShdw sx="100000" sy="100000" kx="0" ky="0" algn="bl" rotWithShape="0" blurRad="101600" dist="38100" dir="2700000">
              <a:srgbClr val="000000">
                <a:alpha val="12000"/>
              </a:srgbClr>
            </a:outerShdw>
          </a:effectLst>
        </p:spPr>
      </p:sp>
      <p:sp>
        <p:nvSpPr>
          <p:cNvPr id="21" name="Text 18"/>
          <p:cNvSpPr/>
          <p:nvPr/>
        </p:nvSpPr>
        <p:spPr>
          <a:xfrm>
            <a:off x="9244584" y="2514600"/>
            <a:ext cx="2331720" cy="59436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49.11%</a:t>
            </a:r>
            <a:endParaRPr lang="en-US" sz="2800" dirty="0"/>
          </a:p>
        </p:txBody>
      </p:sp>
      <p:sp>
        <p:nvSpPr>
          <p:cNvPr id="22" name="Text 19"/>
          <p:cNvSpPr/>
          <p:nvPr/>
        </p:nvSpPr>
        <p:spPr>
          <a:xfrm>
            <a:off x="9244584" y="3154680"/>
            <a:ext cx="23317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Sensitivity</a:t>
            </a:r>
            <a:endParaRPr lang="en-US" sz="1400" dirty="0"/>
          </a:p>
        </p:txBody>
      </p:sp>
      <p:sp>
        <p:nvSpPr>
          <p:cNvPr id="23" name="Text 20"/>
          <p:cNvSpPr/>
          <p:nvPr/>
        </p:nvSpPr>
        <p:spPr>
          <a:xfrm>
            <a:off x="9244584" y="3566160"/>
            <a:ext cx="2331720" cy="822960"/>
          </a:xfrm>
          <a:prstGeom prst="rect">
            <a:avLst/>
          </a:prstGeom>
          <a:noFill/>
          <a:ln/>
        </p:spPr>
        <p:txBody>
          <a:bodyPr wrap="square" lIns="0" tIns="0" rIns="0" bIns="0" rtlCol="0" anchor="ctr"/>
          <a:lstStyle/>
          <a:p>
            <a:pPr algn="ctr" indent="0" marL="0">
              <a:buNone/>
            </a:pPr>
            <a:r>
              <a:rPr lang="en-US" sz="1100" dirty="0">
                <a:solidFill>
                  <a:srgbClr val="F4D9DF"/>
                </a:solidFill>
                <a:latin typeface="Calibri" pitchFamily="34" charset="0"/>
                <a:ea typeface="Calibri" pitchFamily="34" charset="-122"/>
                <a:cs typeface="Calibri" pitchFamily="34" charset="-120"/>
              </a:rPr>
              <a:t>Actual rain days</a:t>
            </a:r>
            <a:endParaRPr lang="en-US" sz="1100" dirty="0"/>
          </a:p>
          <a:p>
            <a:pPr algn="ctr" indent="0" marL="0">
              <a:buNone/>
            </a:pPr>
            <a:r>
              <a:rPr lang="en-US" sz="1100" dirty="0">
                <a:solidFill>
                  <a:srgbClr val="F4D9DF"/>
                </a:solidFill>
                <a:latin typeface="Calibri" pitchFamily="34" charset="0"/>
                <a:ea typeface="Calibri" pitchFamily="34" charset="-122"/>
                <a:cs typeface="Calibri" pitchFamily="34" charset="-120"/>
              </a:rPr>
              <a:t>correctly caught</a:t>
            </a:r>
            <a:endParaRPr lang="en-US" sz="1100" dirty="0"/>
          </a:p>
        </p:txBody>
      </p:sp>
      <p:sp>
        <p:nvSpPr>
          <p:cNvPr id="24" name="Shape 21"/>
          <p:cNvSpPr/>
          <p:nvPr/>
        </p:nvSpPr>
        <p:spPr>
          <a:xfrm>
            <a:off x="548640" y="4846320"/>
            <a:ext cx="11064240" cy="1371600"/>
          </a:xfrm>
          <a:prstGeom prst="roundRect">
            <a:avLst>
              <a:gd name="adj" fmla="val 5333"/>
            </a:avLst>
          </a:prstGeom>
          <a:solidFill>
            <a:srgbClr val="065A82"/>
          </a:solidFill>
          <a:ln/>
        </p:spPr>
      </p:sp>
      <p:sp>
        <p:nvSpPr>
          <p:cNvPr id="25" name="Text 22"/>
          <p:cNvSpPr/>
          <p:nvPr/>
        </p:nvSpPr>
        <p:spPr>
          <a:xfrm>
            <a:off x="777240" y="4983480"/>
            <a:ext cx="2743200" cy="365760"/>
          </a:xfrm>
          <a:prstGeom prst="rect">
            <a:avLst/>
          </a:prstGeom>
          <a:noFill/>
          <a:ln/>
        </p:spPr>
        <p:txBody>
          <a:bodyPr wrap="square" lIns="0" tIns="0" rIns="0" bIns="0" rtlCol="0" anchor="ctr"/>
          <a:lstStyle/>
          <a:p>
            <a:pPr indent="0" marL="0">
              <a:buNone/>
            </a:pPr>
            <a:r>
              <a:rPr lang="en-US" sz="1300" b="1" dirty="0">
                <a:solidFill>
                  <a:srgbClr val="8FC1D9"/>
                </a:solidFill>
                <a:latin typeface="Calibri" pitchFamily="34" charset="0"/>
                <a:ea typeface="Calibri" pitchFamily="34" charset="-122"/>
                <a:cs typeface="Calibri" pitchFamily="34" charset="-120"/>
              </a:rPr>
              <a:t>The honest takeaway:</a:t>
            </a:r>
            <a:endParaRPr lang="en-US" sz="1300" dirty="0"/>
          </a:p>
        </p:txBody>
      </p:sp>
      <p:sp>
        <p:nvSpPr>
          <p:cNvPr id="26" name="Text 23"/>
          <p:cNvSpPr/>
          <p:nvPr/>
        </p:nvSpPr>
        <p:spPr>
          <a:xfrm>
            <a:off x="777240" y="5349240"/>
            <a:ext cx="1060704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The model is excellent at confirming dry days but only catches about half of actual rain events at the default threshold — a strong screening tool, not a definitive forecast.</a:t>
            </a:r>
            <a:endParaRPr lang="en-US" sz="1400" dirty="0"/>
          </a:p>
        </p:txBody>
      </p:sp>
      <p:sp>
        <p:nvSpPr>
          <p:cNvPr id="27" name="Text 24"/>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28" name="Text 2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WHAT ACTUALLY DRIVES THE PREDICTION</a:t>
            </a:r>
            <a:endParaRPr lang="en-US" sz="1300" dirty="0"/>
          </a:p>
        </p:txBody>
      </p:sp>
      <p:sp>
        <p:nvSpPr>
          <p:cNvPr id="3" name="Text 1"/>
          <p:cNvSpPr/>
          <p:nvPr/>
        </p:nvSpPr>
        <p:spPr>
          <a:xfrm>
            <a:off x="548640" y="713232"/>
            <a:ext cx="10515600" cy="6858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Predictor Importance: Humidity Wins</a:t>
            </a:r>
            <a:endParaRPr lang="en-US" sz="3000" dirty="0"/>
          </a:p>
        </p:txBody>
      </p:sp>
      <p:graphicFrame>
        <p:nvGraphicFramePr>
          <p:cNvPr id="4" name="Chart 0" descr=""/>
          <p:cNvGraphicFramePr/>
          <p:nvPr/>
        </p:nvGraphicFramePr>
        <p:xfrm>
          <a:off x="548640" y="160020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52360" y="1691640"/>
            <a:ext cx="4160520" cy="4389120"/>
          </a:xfrm>
          <a:prstGeom prst="roundRect">
            <a:avLst>
              <a:gd name="adj" fmla="val 2198"/>
            </a:avLst>
          </a:prstGeom>
          <a:solidFill>
            <a:srgbClr val="EAF4F8"/>
          </a:solidFill>
          <a:ln/>
          <a:effectLst>
            <a:outerShdw sx="100000" sy="100000" kx="0" ky="0" algn="bl" rotWithShape="0" blurRad="101600" dist="38100" dir="2700000">
              <a:srgbClr val="000000">
                <a:alpha val="12000"/>
              </a:srgbClr>
            </a:outerShdw>
          </a:effectLst>
        </p:spPr>
      </p:sp>
      <p:sp>
        <p:nvSpPr>
          <p:cNvPr id="6" name="Shape 3"/>
          <p:cNvSpPr/>
          <p:nvPr/>
        </p:nvSpPr>
        <p:spPr>
          <a:xfrm>
            <a:off x="7726680" y="1965960"/>
            <a:ext cx="548640" cy="548640"/>
          </a:xfrm>
          <a:prstGeom prst="ellipse">
            <a:avLst/>
          </a:prstGeom>
          <a:solidFill>
            <a:srgbClr val="1C7293"/>
          </a:solidFill>
          <a:ln/>
        </p:spPr>
      </p:sp>
      <p:pic>
        <p:nvPicPr>
          <p:cNvPr id="7" name="Image 0" descr="/home/claude/pptx/icons/humidity.png">    </p:cNvPr>
          <p:cNvPicPr>
            <a:picLocks noChangeAspect="1"/>
          </p:cNvPicPr>
          <p:nvPr/>
        </p:nvPicPr>
        <p:blipFill>
          <a:blip r:embed="rId2"/>
          <a:stretch>
            <a:fillRect/>
          </a:stretch>
        </p:blipFill>
        <p:spPr>
          <a:xfrm>
            <a:off x="7869326" y="2108606"/>
            <a:ext cx="263347" cy="263347"/>
          </a:xfrm>
          <a:prstGeom prst="rect">
            <a:avLst/>
          </a:prstGeom>
        </p:spPr>
      </p:pic>
      <p:sp>
        <p:nvSpPr>
          <p:cNvPr id="8" name="Text 4"/>
          <p:cNvSpPr/>
          <p:nvPr/>
        </p:nvSpPr>
        <p:spPr>
          <a:xfrm>
            <a:off x="8412480" y="2011680"/>
            <a:ext cx="3017520" cy="36576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Two Takeaways</a:t>
            </a:r>
            <a:endParaRPr lang="en-US" sz="1500" dirty="0"/>
          </a:p>
        </p:txBody>
      </p:sp>
      <p:sp>
        <p:nvSpPr>
          <p:cNvPr id="9" name="Text 5"/>
          <p:cNvSpPr/>
          <p:nvPr/>
        </p:nvSpPr>
        <p:spPr>
          <a:xfrm>
            <a:off x="7726680" y="2697480"/>
            <a:ext cx="3657600" cy="3200400"/>
          </a:xfrm>
          <a:prstGeom prst="rect">
            <a:avLst/>
          </a:prstGeom>
          <a:noFill/>
          <a:ln/>
        </p:spPr>
        <p:txBody>
          <a:bodyPr wrap="square" lIns="0" tIns="0" rIns="0" bIns="0" rtlCol="0" anchor="ctr"/>
          <a:lstStyle/>
          <a:p>
            <a:pPr marL="342900" indent="-342900">
              <a:spcAft>
                <a:spcPts val="1400"/>
              </a:spcAft>
              <a:buSzPct val="100000"/>
              <a:buChar char="•"/>
            </a:pPr>
            <a:r>
              <a:rPr lang="en-US" sz="1300" dirty="0">
                <a:solidFill>
                  <a:srgbClr val="1E293B"/>
                </a:solidFill>
                <a:latin typeface="Calibri" pitchFamily="34" charset="0"/>
                <a:ea typeface="Calibri" pitchFamily="34" charset="-122"/>
                <a:cs typeface="Calibri" pitchFamily="34" charset="-120"/>
              </a:rPr>
              <a:t>3pm humidity is the single strongest predictor — more than double the next variable (wind gust speed).</a:t>
            </a:r>
            <a:endParaRPr lang="en-US" sz="1300" dirty="0"/>
          </a:p>
          <a:p>
            <a:pPr marL="342900" indent="-342900">
              <a:spcAft>
                <a:spcPts val="1400"/>
              </a:spcAft>
              <a:buSzPct val="100000"/>
              <a:buChar char="•"/>
            </a:pPr>
            <a:r>
              <a:rPr lang="en-US" sz="1300" dirty="0">
                <a:solidFill>
                  <a:srgbClr val="1E293B"/>
                </a:solidFill>
                <a:latin typeface="Calibri" pitchFamily="34" charset="0"/>
                <a:ea typeface="Calibri" pitchFamily="34" charset="-122"/>
                <a:cs typeface="Calibri" pitchFamily="34" charset="-120"/>
              </a:rPr>
              <a:t>Pressure level itself matters less than the trend through the day: pressure dropping from morning to afternoon is the real rain signal, matching real meteorological theory.</a:t>
            </a:r>
            <a:endParaRPr lang="en-US" sz="1300" dirty="0"/>
          </a:p>
        </p:txBody>
      </p:sp>
      <p:sp>
        <p:nvSpPr>
          <p:cNvPr id="10" name="Text 6"/>
          <p:cNvSpPr/>
          <p:nvPr/>
        </p:nvSpPr>
        <p:spPr>
          <a:xfrm>
            <a:off x="457200" y="6473952"/>
            <a:ext cx="6400800" cy="27432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Storm &amp; Rainfall Pattern Analysis  |  Varsha</a:t>
            </a:r>
            <a:endParaRPr lang="en-US" sz="900" dirty="0"/>
          </a:p>
        </p:txBody>
      </p:sp>
      <p:sp>
        <p:nvSpPr>
          <p:cNvPr id="11"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2286000" y="-1828800"/>
            <a:ext cx="6400800" cy="6400800"/>
          </a:xfrm>
          <a:prstGeom prst="ellipse">
            <a:avLst/>
          </a:prstGeom>
          <a:solidFill>
            <a:srgbClr val="065A82">
              <a:alpha val="40000"/>
            </a:srgbClr>
          </a:solidFill>
          <a:ln/>
        </p:spPr>
      </p:sp>
      <p:sp>
        <p:nvSpPr>
          <p:cNvPr id="3" name="Shape 1"/>
          <p:cNvSpPr/>
          <p:nvPr/>
        </p:nvSpPr>
        <p:spPr>
          <a:xfrm>
            <a:off x="9144000" y="3657600"/>
            <a:ext cx="5486400" cy="5486400"/>
          </a:xfrm>
          <a:prstGeom prst="ellipse">
            <a:avLst/>
          </a:prstGeom>
          <a:solidFill>
            <a:srgbClr val="1C7293">
              <a:alpha val="35000"/>
            </a:srgbClr>
          </a:solidFill>
          <a:ln/>
        </p:spPr>
      </p:sp>
      <p:sp>
        <p:nvSpPr>
          <p:cNvPr id="4" name="Text 2"/>
          <p:cNvSpPr/>
          <p:nvPr/>
        </p:nvSpPr>
        <p:spPr>
          <a:xfrm>
            <a:off x="548640" y="502920"/>
            <a:ext cx="7315200" cy="320040"/>
          </a:xfrm>
          <a:prstGeom prst="rect">
            <a:avLst/>
          </a:prstGeom>
          <a:noFill/>
          <a:ln/>
        </p:spPr>
        <p:txBody>
          <a:bodyPr wrap="square" lIns="0" tIns="0" rIns="0" bIns="0" rtlCol="0" anchor="ctr"/>
          <a:lstStyle/>
          <a:p>
            <a:pPr indent="0" marL="0">
              <a:buNone/>
            </a:pPr>
            <a:r>
              <a:rPr lang="en-US" sz="1300" b="1" spc="200" kern="0" dirty="0">
                <a:solidFill>
                  <a:srgbClr val="8FC1D9"/>
                </a:solidFill>
                <a:latin typeface="Calibri" pitchFamily="34" charset="0"/>
                <a:ea typeface="Calibri" pitchFamily="34" charset="-122"/>
                <a:cs typeface="Calibri" pitchFamily="34" charset="-120"/>
              </a:rPr>
              <a:t>THREE ANGLES, ONE CONCLUSION</a:t>
            </a:r>
            <a:endParaRPr lang="en-US" sz="1300" dirty="0"/>
          </a:p>
        </p:txBody>
      </p:sp>
      <p:sp>
        <p:nvSpPr>
          <p:cNvPr id="5" name="Text 3"/>
          <p:cNvSpPr/>
          <p:nvPr/>
        </p:nvSpPr>
        <p:spPr>
          <a:xfrm>
            <a:off x="548640" y="868680"/>
            <a:ext cx="105156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Bringing It All Together</a:t>
            </a:r>
            <a:endParaRPr lang="en-US" sz="3200" dirty="0"/>
          </a:p>
        </p:txBody>
      </p:sp>
      <p:sp>
        <p:nvSpPr>
          <p:cNvPr id="6" name="Shape 4"/>
          <p:cNvSpPr/>
          <p:nvPr/>
        </p:nvSpPr>
        <p:spPr>
          <a:xfrm>
            <a:off x="548640" y="1783080"/>
            <a:ext cx="3383280" cy="2834640"/>
          </a:xfrm>
          <a:prstGeom prst="roundRect">
            <a:avLst>
              <a:gd name="adj" fmla="val 3226"/>
            </a:avLst>
          </a:prstGeom>
          <a:solidFill>
            <a:srgbClr val="065A82">
              <a:alpha val="85000"/>
            </a:srgbClr>
          </a:solidFill>
          <a:ln/>
          <a:effectLst>
            <a:outerShdw sx="100000" sy="100000" kx="0" ky="0" algn="bl" rotWithShape="0" blurRad="101600" dist="38100" dir="2700000">
              <a:srgbClr val="000000">
                <a:alpha val="12000"/>
              </a:srgbClr>
            </a:outerShdw>
          </a:effectLst>
        </p:spPr>
      </p:sp>
      <p:sp>
        <p:nvSpPr>
          <p:cNvPr id="7" name="Shape 5"/>
          <p:cNvSpPr/>
          <p:nvPr/>
        </p:nvSpPr>
        <p:spPr>
          <a:xfrm>
            <a:off x="1874520" y="2103120"/>
            <a:ext cx="731520" cy="731520"/>
          </a:xfrm>
          <a:prstGeom prst="ellipse">
            <a:avLst/>
          </a:prstGeom>
          <a:solidFill>
            <a:srgbClr val="1C7293"/>
          </a:solidFill>
          <a:ln/>
        </p:spPr>
      </p:sp>
      <p:pic>
        <p:nvPicPr>
          <p:cNvPr id="8" name="Image 0" descr="/home/claude/pptx/icons/location.png">    </p:cNvPr>
          <p:cNvPicPr>
            <a:picLocks noChangeAspect="1"/>
          </p:cNvPicPr>
          <p:nvPr/>
        </p:nvPicPr>
        <p:blipFill>
          <a:blip r:embed="rId1"/>
          <a:stretch>
            <a:fillRect/>
          </a:stretch>
        </p:blipFill>
        <p:spPr>
          <a:xfrm>
            <a:off x="2064715" y="2293315"/>
            <a:ext cx="351130" cy="351130"/>
          </a:xfrm>
          <a:prstGeom prst="rect">
            <a:avLst/>
          </a:prstGeom>
        </p:spPr>
      </p:pic>
      <p:sp>
        <p:nvSpPr>
          <p:cNvPr id="9" name="Text 6"/>
          <p:cNvSpPr/>
          <p:nvPr/>
        </p:nvSpPr>
        <p:spPr>
          <a:xfrm>
            <a:off x="777240" y="3017520"/>
            <a:ext cx="29260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Geography</a:t>
            </a:r>
            <a:endParaRPr lang="en-US" sz="1700" dirty="0"/>
          </a:p>
        </p:txBody>
      </p:sp>
      <p:sp>
        <p:nvSpPr>
          <p:cNvPr id="10" name="Text 7"/>
          <p:cNvSpPr/>
          <p:nvPr/>
        </p:nvSpPr>
        <p:spPr>
          <a:xfrm>
            <a:off x="822960" y="3474720"/>
            <a:ext cx="2834640" cy="105156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Tropical &amp; coastal stations get the worst rain — no exceptions in the top 10.</a:t>
            </a:r>
            <a:endParaRPr lang="en-US" sz="1200" dirty="0"/>
          </a:p>
        </p:txBody>
      </p:sp>
      <p:sp>
        <p:nvSpPr>
          <p:cNvPr id="11" name="Shape 8"/>
          <p:cNvSpPr/>
          <p:nvPr/>
        </p:nvSpPr>
        <p:spPr>
          <a:xfrm>
            <a:off x="4297680" y="1783080"/>
            <a:ext cx="3383280" cy="2834640"/>
          </a:xfrm>
          <a:prstGeom prst="roundRect">
            <a:avLst>
              <a:gd name="adj" fmla="val 3226"/>
            </a:avLst>
          </a:prstGeom>
          <a:solidFill>
            <a:srgbClr val="065A82">
              <a:alpha val="85000"/>
            </a:srgbClr>
          </a:solidFill>
          <a:ln/>
          <a:effectLst>
            <a:outerShdw sx="100000" sy="100000" kx="0" ky="0" algn="bl" rotWithShape="0" blurRad="101600" dist="38100" dir="2700000">
              <a:srgbClr val="000000">
                <a:alpha val="12000"/>
              </a:srgbClr>
            </a:outerShdw>
          </a:effectLst>
        </p:spPr>
      </p:sp>
      <p:sp>
        <p:nvSpPr>
          <p:cNvPr id="12" name="Shape 9"/>
          <p:cNvSpPr/>
          <p:nvPr/>
        </p:nvSpPr>
        <p:spPr>
          <a:xfrm>
            <a:off x="5623560" y="2103120"/>
            <a:ext cx="731520" cy="731520"/>
          </a:xfrm>
          <a:prstGeom prst="ellipse">
            <a:avLst/>
          </a:prstGeom>
          <a:solidFill>
            <a:srgbClr val="1C7293"/>
          </a:solidFill>
          <a:ln/>
        </p:spPr>
      </p:sp>
      <p:pic>
        <p:nvPicPr>
          <p:cNvPr id="13" name="Image 1" descr="/home/claude/pptx/icons/calendar.png">    </p:cNvPr>
          <p:cNvPicPr>
            <a:picLocks noChangeAspect="1"/>
          </p:cNvPicPr>
          <p:nvPr/>
        </p:nvPicPr>
        <p:blipFill>
          <a:blip r:embed="rId2"/>
          <a:stretch>
            <a:fillRect/>
          </a:stretch>
        </p:blipFill>
        <p:spPr>
          <a:xfrm>
            <a:off x="5813755" y="2293315"/>
            <a:ext cx="351130" cy="351130"/>
          </a:xfrm>
          <a:prstGeom prst="rect">
            <a:avLst/>
          </a:prstGeom>
        </p:spPr>
      </p:pic>
      <p:sp>
        <p:nvSpPr>
          <p:cNvPr id="14" name="Text 10"/>
          <p:cNvSpPr/>
          <p:nvPr/>
        </p:nvSpPr>
        <p:spPr>
          <a:xfrm>
            <a:off x="4526280" y="3017520"/>
            <a:ext cx="29260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Timing</a:t>
            </a:r>
            <a:endParaRPr lang="en-US" sz="1700" dirty="0"/>
          </a:p>
        </p:txBody>
      </p:sp>
      <p:sp>
        <p:nvSpPr>
          <p:cNvPr id="15" name="Text 11"/>
          <p:cNvSpPr/>
          <p:nvPr/>
        </p:nvSpPr>
        <p:spPr>
          <a:xfrm>
            <a:off x="4572000" y="3474720"/>
            <a:ext cx="2834640" cy="105156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Storms concentrate in the Jan–Mar monsoon and cyclone season.</a:t>
            </a:r>
            <a:endParaRPr lang="en-US" sz="1200" dirty="0"/>
          </a:p>
        </p:txBody>
      </p:sp>
      <p:sp>
        <p:nvSpPr>
          <p:cNvPr id="16" name="Shape 12"/>
          <p:cNvSpPr/>
          <p:nvPr/>
        </p:nvSpPr>
        <p:spPr>
          <a:xfrm>
            <a:off x="8046720" y="1783080"/>
            <a:ext cx="3383280" cy="2834640"/>
          </a:xfrm>
          <a:prstGeom prst="roundRect">
            <a:avLst>
              <a:gd name="adj" fmla="val 3226"/>
            </a:avLst>
          </a:prstGeom>
          <a:solidFill>
            <a:srgbClr val="065A82">
              <a:alpha val="85000"/>
            </a:srgbClr>
          </a:solidFill>
          <a:ln/>
          <a:effectLst>
            <a:outerShdw sx="100000" sy="100000" kx="0" ky="0" algn="bl" rotWithShape="0" blurRad="101600" dist="38100" dir="2700000">
              <a:srgbClr val="000000">
                <a:alpha val="12000"/>
              </a:srgbClr>
            </a:outerShdw>
          </a:effectLst>
        </p:spPr>
      </p:sp>
      <p:sp>
        <p:nvSpPr>
          <p:cNvPr id="17" name="Shape 13"/>
          <p:cNvSpPr/>
          <p:nvPr/>
        </p:nvSpPr>
        <p:spPr>
          <a:xfrm>
            <a:off x="9372600" y="2103120"/>
            <a:ext cx="731520" cy="731520"/>
          </a:xfrm>
          <a:prstGeom prst="ellipse">
            <a:avLst/>
          </a:prstGeom>
          <a:solidFill>
            <a:srgbClr val="1C7293"/>
          </a:solidFill>
          <a:ln/>
        </p:spPr>
      </p:sp>
      <p:pic>
        <p:nvPicPr>
          <p:cNvPr id="18" name="Image 2" descr="/home/claude/pptx/icons/ml.png">    </p:cNvPr>
          <p:cNvPicPr>
            <a:picLocks noChangeAspect="1"/>
          </p:cNvPicPr>
          <p:nvPr/>
        </p:nvPicPr>
        <p:blipFill>
          <a:blip r:embed="rId3"/>
          <a:stretch>
            <a:fillRect/>
          </a:stretch>
        </p:blipFill>
        <p:spPr>
          <a:xfrm>
            <a:off x="9562795" y="2293315"/>
            <a:ext cx="351130" cy="351130"/>
          </a:xfrm>
          <a:prstGeom prst="rect">
            <a:avLst/>
          </a:prstGeom>
        </p:spPr>
      </p:pic>
      <p:sp>
        <p:nvSpPr>
          <p:cNvPr id="19" name="Text 14"/>
          <p:cNvSpPr/>
          <p:nvPr/>
        </p:nvSpPr>
        <p:spPr>
          <a:xfrm>
            <a:off x="8275320" y="3017520"/>
            <a:ext cx="29260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Mechanism</a:t>
            </a:r>
            <a:endParaRPr lang="en-US" sz="1700" dirty="0"/>
          </a:p>
        </p:txBody>
      </p:sp>
      <p:sp>
        <p:nvSpPr>
          <p:cNvPr id="20" name="Text 15"/>
          <p:cNvSpPr/>
          <p:nvPr/>
        </p:nvSpPr>
        <p:spPr>
          <a:xfrm>
            <a:off x="8321040" y="3474720"/>
            <a:ext cx="2834640" cy="105156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Falling pressure and rising humidity drive it — confirmed by both correlation and the predictive model.</a:t>
            </a:r>
            <a:endParaRPr lang="en-US" sz="1200" dirty="0"/>
          </a:p>
        </p:txBody>
      </p:sp>
      <p:sp>
        <p:nvSpPr>
          <p:cNvPr id="21" name="Text 16"/>
          <p:cNvSpPr/>
          <p:nvPr/>
        </p:nvSpPr>
        <p:spPr>
          <a:xfrm>
            <a:off x="548640" y="4892040"/>
            <a:ext cx="11064240" cy="502920"/>
          </a:xfrm>
          <a:prstGeom prst="rect">
            <a:avLst/>
          </a:prstGeom>
          <a:noFill/>
          <a:ln/>
        </p:spPr>
        <p:txBody>
          <a:bodyPr wrap="square" lIns="0" tIns="0" rIns="0" bIns="0"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What I'd do next: extend the model with wind direction and lagged variables, and chase down a couple of outliers found during data cleaning.</a:t>
            </a:r>
            <a:endParaRPr lang="en-US" sz="1300" dirty="0"/>
          </a:p>
        </p:txBody>
      </p:sp>
      <p:sp>
        <p:nvSpPr>
          <p:cNvPr id="22" name="Text 17"/>
          <p:cNvSpPr/>
          <p:nvPr/>
        </p:nvSpPr>
        <p:spPr>
          <a:xfrm>
            <a:off x="548640" y="5897880"/>
            <a:ext cx="73152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Thank you — happy to take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Storm &amp; Rainfall Pattern Analysis</dc:title>
  <dc:subject>PptxGenJS Presentation</dc:subject>
  <dc:creator>Varsha</dc:creator>
  <cp:lastModifiedBy>Varsha</cp:lastModifiedBy>
  <cp:revision>1</cp:revision>
  <dcterms:created xsi:type="dcterms:W3CDTF">2026-06-21T06:45:37Z</dcterms:created>
  <dcterms:modified xsi:type="dcterms:W3CDTF">2026-06-21T06:45:37Z</dcterms:modified>
</cp:coreProperties>
</file>